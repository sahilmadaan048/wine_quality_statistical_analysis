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640080"/>
            <a:ext cx="1828800" cy="1828800"/>
          </a:xfrm>
          <a:prstGeom prst="ellipse">
            <a:avLst/>
          </a:prstGeom>
          <a:solidFill>
            <a:srgbClr val="80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52760" y="1325880"/>
            <a:ext cx="1143000" cy="1143000"/>
          </a:xfrm>
          <a:prstGeom prst="ellipse">
            <a:avLst/>
          </a:prstGeom>
          <a:solidFill>
            <a:srgbClr val="C79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0" y="1828800"/>
            <a:ext cx="640080" cy="640080"/>
          </a:xfrm>
          <a:prstGeom prst="ellipse">
            <a:avLst/>
          </a:prstGeom>
          <a:solidFill>
            <a:srgbClr val="9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STATISTICAL ANALYSIS
AND MACHINE LEARNING-BASED
PREDICTION OF WINE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D6BE"/>
                </a:solidFill>
              </a:rPr>
              <a:t>Using Physicochemical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DD4DC"/>
                </a:solidFill>
              </a:rPr>
              <a:t>Data Analytics Coursework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DD4DC"/>
                </a:solidFill>
              </a:rPr>
              <a:t>Dataset: UCI Wine Quality – Red Wine Dataset
1,599 original observations → 1,359 unique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BEC8"/>
                </a:solidFill>
              </a:rPr>
              <a:t>Presented by: ____________________    Roll No.: __________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3657600"/>
            <a:ext cx="73152" cy="1645920"/>
          </a:xfrm>
          <a:prstGeom prst="rect">
            <a:avLst/>
          </a:prstGeom>
          <a:solidFill>
            <a:srgbClr val="C79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64040" y="5166360"/>
            <a:ext cx="1645920" cy="182880"/>
          </a:xfrm>
          <a:prstGeom prst="ellipse">
            <a:avLst/>
          </a:prstGeom>
          <a:solidFill>
            <a:srgbClr val="C79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72600" y="2560320"/>
            <a:ext cx="1828800" cy="1828800"/>
          </a:xfrm>
          <a:prstGeom prst="ellipse">
            <a:avLst/>
          </a:prstGeom>
          <a:solidFill>
            <a:srgbClr val="9A2D3E"/>
          </a:solidFill>
          <a:ln>
            <a:solidFill>
              <a:srgbClr val="C7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3246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WINE
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From data → inference →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626"/>
                </a:solidFill>
              </a:defRPr>
            </a:pPr>
            <a:r>
              <a:t>• Dataset &amp; preprocessing</a:t>
            </a:r>
          </a:p>
          <a:p>
            <a:pPr>
              <a:spcAft>
                <a:spcPts val="700"/>
              </a:spcAft>
              <a:defRPr sz="1800">
                <a:solidFill>
                  <a:srgbClr val="262626"/>
                </a:solidFill>
              </a:defRPr>
            </a:pPr>
            <a:r>
              <a:t>• Descriptive statistics</a:t>
            </a:r>
          </a:p>
          <a:p>
            <a:pPr>
              <a:spcAft>
                <a:spcPts val="700"/>
              </a:spcAft>
              <a:defRPr sz="1800">
                <a:solidFill>
                  <a:srgbClr val="262626"/>
                </a:solidFill>
              </a:defRPr>
            </a:pPr>
            <a:r>
              <a:t>• Confidence intervals &amp; hypothesis tests</a:t>
            </a:r>
          </a:p>
          <a:p>
            <a:pPr>
              <a:spcAft>
                <a:spcPts val="700"/>
              </a:spcAft>
              <a:defRPr sz="1800">
                <a:solidFill>
                  <a:srgbClr val="262626"/>
                </a:solidFill>
              </a:defRPr>
            </a:pPr>
            <a:r>
              <a:t>• Quality-group comparison</a:t>
            </a:r>
          </a:p>
          <a:p>
            <a:pPr>
              <a:spcAft>
                <a:spcPts val="700"/>
              </a:spcAft>
              <a:defRPr sz="1800">
                <a:solidFill>
                  <a:srgbClr val="262626"/>
                </a:solidFill>
              </a:defRPr>
            </a:pPr>
            <a:r>
              <a:t>• Correlation &amp; visual analysis</a:t>
            </a:r>
          </a:p>
          <a:p>
            <a:pPr>
              <a:spcAft>
                <a:spcPts val="700"/>
              </a:spcAft>
              <a:defRPr sz="1800">
                <a:solidFill>
                  <a:srgbClr val="262626"/>
                </a:solidFill>
              </a:defRPr>
            </a:pPr>
            <a:r>
              <a:t>• Repeated sampling &amp; sample-size effects</a:t>
            </a:r>
          </a:p>
          <a:p>
            <a:pPr>
              <a:spcAft>
                <a:spcPts val="700"/>
              </a:spcAft>
              <a:defRPr sz="1800">
                <a:solidFill>
                  <a:srgbClr val="262626"/>
                </a:solidFill>
              </a:defRPr>
            </a:pPr>
            <a:r>
              <a:t>• 5-fold cross-validation &amp; model comparison</a:t>
            </a:r>
          </a:p>
          <a:p>
            <a:pPr>
              <a:spcAft>
                <a:spcPts val="700"/>
              </a:spcAft>
              <a:defRPr sz="1800">
                <a:solidFill>
                  <a:srgbClr val="262626"/>
                </a:solidFill>
              </a:defRPr>
            </a:pPr>
            <a:r>
              <a:t>• Key findings, limitations and conclusion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14300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143000"/>
            <a:ext cx="73152" cy="1508760"/>
          </a:xfrm>
          <a:prstGeom prst="rect">
            <a:avLst/>
          </a:prstGeom>
          <a:solidFill>
            <a:srgbClr val="80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3075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1,599 → 1,359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76272"/>
            <a:ext cx="201167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240 exact duplicates removed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14300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143000"/>
            <a:ext cx="73152" cy="1508760"/>
          </a:xfrm>
          <a:prstGeom prst="rect">
            <a:avLst/>
          </a:prstGeom>
          <a:solidFill>
            <a:srgbClr val="C79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3075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64592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α = 0.05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76272"/>
            <a:ext cx="201167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CIs + t-tests + correlation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97180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2971800"/>
            <a:ext cx="73152" cy="1508760"/>
          </a:xfrm>
          <a:prstGeom prst="rect">
            <a:avLst/>
          </a:prstGeom>
          <a:solidFill>
            <a:srgbClr val="9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1363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SAMPLING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7472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n = 50–1,000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05072"/>
            <a:ext cx="201167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30 repetitions per 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97180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2971800"/>
            <a:ext cx="73152" cy="1508760"/>
          </a:xfrm>
          <a:prstGeom prst="rect">
            <a:avLst/>
          </a:prstGeom>
          <a:solidFill>
            <a:srgbClr val="2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1363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47472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5-Fold CV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005072"/>
            <a:ext cx="201167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Linear Regression vs Random Forest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83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263B"/>
                </a:solidFill>
              </a:rPr>
              <a:t>Central question:
How do wine properties relate to quality, and how does sample size affect statistical certainty?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1. Dataset &amp;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UCI Wine Quality – red wines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B263B"/>
                </a:solidFill>
              </a:rPr>
              <a:t>11 physicochemical predictors + 1 quality score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508760"/>
          <a:ext cx="53492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</a:tblGrid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Variable group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Acidity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fixed acidity, volatile acidity, citric acid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Sugar / salts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residual sugar, chlorides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Sulfur dioxide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free SO₂, total SO₂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Physical properties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density, pH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sulphates, alcohol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quality score (3–8 in this data)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46520" y="1143000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143000"/>
            <a:ext cx="73152" cy="1325880"/>
          </a:xfrm>
          <a:prstGeom prst="rect">
            <a:avLst/>
          </a:prstGeom>
          <a:solidFill>
            <a:srgbClr val="80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30759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ORIGINAL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645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1,599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7627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43000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143000"/>
            <a:ext cx="73152" cy="1325880"/>
          </a:xfrm>
          <a:prstGeom prst="rect">
            <a:avLst/>
          </a:prstGeom>
          <a:solidFill>
            <a:srgbClr val="C79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30759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DUPLICATES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645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7627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exact duplicate rows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743200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2743200"/>
            <a:ext cx="73152" cy="1325880"/>
          </a:xfrm>
          <a:prstGeom prst="rect">
            <a:avLst/>
          </a:prstGeom>
          <a:solidFill>
            <a:srgbClr val="9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90779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CLEANED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2461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1,359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7647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unique rows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743200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2743200"/>
            <a:ext cx="73152" cy="1325880"/>
          </a:xfrm>
          <a:prstGeom prst="rect">
            <a:avLst/>
          </a:prstGeom>
          <a:solidFill>
            <a:srgbClr val="2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90779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MISSING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461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77647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missing values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26280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</a:rPr>
              <a:t>Preprocessing choice
Exact duplicates were removed so identical records would not disproportionately weight the analysis.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532120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Important: duplicate removal is a project-level methodological choice.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2. Wine Quality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Quality scores are concentrated around 5 and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9" name="Picture 8" descr="quality_distribution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5669280" cy="330708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720840" y="1143000"/>
          <a:ext cx="4389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Quality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</a:rPr>
                        <a:t>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</a:rPr>
                        <a:t>535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766560" y="47091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63B"/>
                </a:solidFill>
              </a:rPr>
              <a:t>Key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349240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</a:rPr>
              <a:t>Scores 5 and 6 dominate the dataset, while extreme scores 3 and 8 are rare.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3. Descriptive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Central tendency and variability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960120"/>
          <a:ext cx="11201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  <a:gridCol w="1400175"/>
                <a:gridCol w="1400175"/>
                <a:gridCol w="1400175"/>
                <a:gridCol w="1400175"/>
                <a:gridCol w="1400175"/>
                <a:gridCol w="140017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</a:rPr>
                        <a:t>Median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</a:rPr>
                        <a:t>Std Dev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</a:rPr>
                        <a:t>Min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</a:rPr>
                        <a:t>Max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</a:rPr>
                        <a:t>CV %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Fixed acidity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8.3106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7.9000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1.7370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4.6000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9.2000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15.9000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20.90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Volatile acidity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0.5295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0.5200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0.1830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0.1200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0.6400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1.5800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34.57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Citric acid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0.2723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0.2600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0.1955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0.4300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71.80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Residual sugar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2.5234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2.2000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1.3523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0.9000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2.6000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15.5000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53.59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Chlorides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0.0881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0.0790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0.0494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0.0120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0.0910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0.6110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56.03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Free SO₂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15.8933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10.4473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65.73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Total SO₂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46.8260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33.4089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71.35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Density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0.9967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0.9967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0.0019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0.9901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0.9978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1.0037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0.19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3.3098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3.3100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0.1550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2.7400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3.4000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4.0100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4.68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Sulphates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0.6587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0.6200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0.1707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0.3300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0.7300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2.0000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25.91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Alcohol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10.4323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10.2000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1.0821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8.4000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11.1000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14.9000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62626"/>
                          </a:solidFill>
                        </a:rPr>
                        <a:t>10.37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5321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63B"/>
                </a:solidFill>
              </a:rPr>
              <a:t>Takeaway: relative variability is highest for citric acid / sulfur-dioxide-related measures, while alcohol has comparatively low relative variability.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4. Confidence Interval &amp; Hypothesis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Alcohol content as the main inferential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515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73152" cy="1417320"/>
          </a:xfrm>
          <a:prstGeom prst="rect">
            <a:avLst/>
          </a:prstGeom>
          <a:solidFill>
            <a:srgbClr val="80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216151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MEAN ALCOHOL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554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10.4323%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084831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cleaned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0515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051560"/>
            <a:ext cx="73152" cy="1417320"/>
          </a:xfrm>
          <a:prstGeom prst="rect">
            <a:avLst/>
          </a:prstGeom>
          <a:solidFill>
            <a:srgbClr val="C79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216151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95% CONFIDENCE INTERVAL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554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10.3747% – 10.4899%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084831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margin of error = 0.0576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0515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1051560"/>
            <a:ext cx="73152" cy="1417320"/>
          </a:xfrm>
          <a:prstGeom prst="rect">
            <a:avLst/>
          </a:prstGeom>
          <a:solidFill>
            <a:srgbClr val="2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216151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SAMPLE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554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1,359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084831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t-critical = 1.9617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8803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</a:rPr>
              <a:t>One-sample t-test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3474720"/>
          <a:ext cx="5257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</a:tblGrid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H₀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μ =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H₁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μ ≠ 10%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t-statistic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14.7284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1.16 × 10⁻⁴⁵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Reject H₀ at α = 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00800" y="2971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</a:rPr>
              <a:t>Interpretation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57600"/>
            <a:ext cx="4800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</a:rPr>
              <a:t>The evidence is overwhelmingly strong that the mean alcohol content in the cleaned dataset differs from 10%.
This is an inference about the dataset's represented population—not a claim about every wine.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5. Low vs High Quality Wines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Does alcohol differ between quality groups?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7</a:t>
            </a:r>
          </a:p>
        </p:txBody>
      </p:sp>
      <p:pic>
        <p:nvPicPr>
          <p:cNvPr id="9" name="Picture 8" descr="image(20261004-13105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5669280" cy="4233756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37960" y="1097280"/>
          <a:ext cx="4846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Mean Alcohol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Std Dev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Low quality (≤5)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9.9208%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0.7735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High quality (≥6)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719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10.8876%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1.1141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37960" y="342900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3429000"/>
            <a:ext cx="73152" cy="1234440"/>
          </a:xfrm>
          <a:prstGeom prst="rect">
            <a:avLst/>
          </a:prstGeom>
          <a:solidFill>
            <a:srgbClr val="9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593592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MEAN DIFFERENCE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93192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+0.9669 percentage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462272"/>
            <a:ext cx="4526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High quality − Low quality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537960" y="4846320"/>
          <a:ext cx="48463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Welch t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−18.7427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1.80 × 10⁻⁶⁹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[0.8657, 1.0681]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31520" y="5806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63B"/>
                </a:solidFill>
              </a:rPr>
              <a:t>Conclusion: reject H₀ of equal mean alcohol content.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6. Correlation: Alcohol vs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A moderate positive linear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8</a:t>
            </a:r>
          </a:p>
        </p:txBody>
      </p:sp>
      <p:pic>
        <p:nvPicPr>
          <p:cNvPr id="9" name="Picture 8" descr="image(20261004-13123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5715000" cy="3736377"/>
          </a:xfrm>
          <a:prstGeom prst="rect">
            <a:avLst/>
          </a:prstGeom>
        </p:spPr>
      </p:pic>
      <p:pic>
        <p:nvPicPr>
          <p:cNvPr id="10" name="Picture 9" descr="image(20261004-13124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5303520" cy="421691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498348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983480"/>
            <a:ext cx="73152" cy="1051560"/>
          </a:xfrm>
          <a:prstGeom prst="rect">
            <a:avLst/>
          </a:prstGeom>
          <a:solidFill>
            <a:srgbClr val="80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4807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PEARSON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86400"/>
            <a:ext cx="2240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0.4803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16752"/>
            <a:ext cx="2240279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moderate positive association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498348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4983480"/>
            <a:ext cx="73152" cy="1051560"/>
          </a:xfrm>
          <a:prstGeom prst="rect">
            <a:avLst/>
          </a:prstGeom>
          <a:solidFill>
            <a:srgbClr val="C79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514807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p-value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486400"/>
            <a:ext cx="2240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2.28 × 10⁻⁷⁹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6016752"/>
            <a:ext cx="2240279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statistically significant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83480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Other notable relationships:
volatile acidity ≈ −0.40 with quality; sulphates ≈ +0.25; citric acid ≈ +0.23.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7. Effect of Sample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Larger samples produce narrower confidence intervals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9</a:t>
            </a:r>
          </a:p>
        </p:txBody>
      </p:sp>
      <p:pic>
        <p:nvPicPr>
          <p:cNvPr id="9" name="Picture 8" descr="image(20261004-12085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5486400" cy="3085544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46520" y="1005840"/>
          <a:ext cx="50749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730"/>
                <a:gridCol w="1268730"/>
                <a:gridCol w="1268730"/>
                <a:gridCol w="1268730"/>
              </a:tblGrid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Mean CI width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SD of sample means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H₀ rejection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0.6205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0.1626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83.33%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0.4177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0.1137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0.2695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0.0691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500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0.1893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0.0445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0.1340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0.0160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62626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4434840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263B"/>
                </a:solidFill>
              </a:rPr>
              <a:t>Main statistical lesson:
As n increases, estimates become more stable and uncertainty shrinks.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8. Repeated Sampling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30 repetitions at each sample size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10</a:t>
            </a:r>
          </a:p>
        </p:txBody>
      </p:sp>
      <p:pic>
        <p:nvPicPr>
          <p:cNvPr id="9" name="Picture 8" descr="image(20261005-09302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5486400" cy="2985247"/>
          </a:xfrm>
          <a:prstGeom prst="rect">
            <a:avLst/>
          </a:prstGeom>
        </p:spPr>
      </p:pic>
      <p:pic>
        <p:nvPicPr>
          <p:cNvPr id="10" name="Picture 9" descr="image(20261005-09301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394960" cy="30390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4406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63B"/>
                </a:solidFill>
              </a:rPr>
              <a:t>Mean estimates converge toward the cleaned-data reference mean (10.4323%).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5440680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63B"/>
                </a:solidFill>
              </a:rPr>
              <a:t>Coverage fluctuates around the theoretical 95% level because only 30 repetitions were used.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9. Statistical Power Across Sample Sizes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Detecting the difference from μ =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11</a:t>
            </a:r>
          </a:p>
        </p:txBody>
      </p:sp>
      <p:pic>
        <p:nvPicPr>
          <p:cNvPr id="9" name="Picture 8" descr="image(20261005-09304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76072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10515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</a:rPr>
              <a:t>What happens as n grows?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78308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626"/>
                </a:solidFill>
              </a:defRPr>
            </a:pPr>
            <a:r>
              <a:t>• At n = 50, H₀ was rejected in 83.33% of repetitions.</a:t>
            </a:r>
          </a:p>
          <a:p>
            <a:pPr>
              <a:spcAft>
                <a:spcPts val="700"/>
              </a:spcAft>
              <a:defRPr sz="1500">
                <a:solidFill>
                  <a:srgbClr val="262626"/>
                </a:solidFill>
              </a:defRPr>
            </a:pPr>
            <a:r>
              <a:t>• At n ≥ 100, H₀ was rejected in all 30 repetitions.</a:t>
            </a:r>
          </a:p>
          <a:p>
            <a:pPr>
              <a:spcAft>
                <a:spcPts val="700"/>
              </a:spcAft>
              <a:defRPr sz="1500">
                <a:solidFill>
                  <a:srgbClr val="262626"/>
                </a:solidFill>
              </a:defRPr>
            </a:pPr>
            <a:r>
              <a:t>• Larger samples reduce standard error.</a:t>
            </a:r>
          </a:p>
          <a:p>
            <a:pPr>
              <a:spcAft>
                <a:spcPts val="700"/>
              </a:spcAft>
              <a:defRPr sz="1500">
                <a:solidFill>
                  <a:srgbClr val="262626"/>
                </a:solidFill>
              </a:defRPr>
            </a:pPr>
            <a:r>
              <a:t>• Smaller standard errors make a real difference easier to detect.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89204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9A2D3E"/>
                </a:solidFill>
              </a:rPr>
              <a:t>This illustrates increasing statistical power in the repeated experiment.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10. What the Visualizations Tell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Turning numbers into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9" name="Picture 8" descr="image(20261004-13104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5440680" cy="4181441"/>
          </a:xfrm>
          <a:prstGeom prst="rect">
            <a:avLst/>
          </a:prstGeom>
        </p:spPr>
      </p:pic>
      <p:pic>
        <p:nvPicPr>
          <p:cNvPr id="10" name="Picture 9" descr="image(20261004-13105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60120"/>
            <a:ext cx="5440680" cy="40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166360"/>
            <a:ext cx="5257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63B"/>
                </a:solidFill>
              </a:rPr>
              <a:t>Quality-score boxplots show an overall upward shift in alcohol as quality increases.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166360"/>
            <a:ext cx="5257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63B"/>
                </a:solidFill>
              </a:rPr>
              <a:t>The low-vs-high comparison makes the group-level alcohol difference especially clear.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11. Machine Learning: 5-Fold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Predicting quality from physicochemical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14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</a:rPr>
              <a:t>Models evaluated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0876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08760"/>
            <a:ext cx="73152" cy="1371600"/>
          </a:xfrm>
          <a:prstGeom prst="rect">
            <a:avLst/>
          </a:prstGeom>
          <a:solidFill>
            <a:srgbClr val="80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673351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MODEL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0116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Linear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54203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baseline linear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150876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1508760"/>
            <a:ext cx="73152" cy="1371600"/>
          </a:xfrm>
          <a:prstGeom prst="rect">
            <a:avLst/>
          </a:prstGeom>
          <a:solidFill>
            <a:srgbClr val="2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1673351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MODEL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0116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54203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nonlinear ensemble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914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</a:rPr>
              <a:t>5-fold 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4173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2626"/>
                </a:solidFill>
              </a:defRPr>
            </a:pPr>
            <a:r>
              <a:t>• Shuffle data with random_state = 42.</a:t>
            </a:r>
          </a:p>
          <a:p>
            <a:pPr>
              <a:spcAft>
                <a:spcPts val="700"/>
              </a:spcAft>
              <a:defRPr sz="1400">
                <a:solidFill>
                  <a:srgbClr val="262626"/>
                </a:solidFill>
              </a:defRPr>
            </a:pPr>
            <a:r>
              <a:t>• Train on 4 folds and validate on 1 fold.</a:t>
            </a:r>
          </a:p>
          <a:p>
            <a:pPr>
              <a:spcAft>
                <a:spcPts val="700"/>
              </a:spcAft>
              <a:defRPr sz="1400">
                <a:solidFill>
                  <a:srgbClr val="262626"/>
                </a:solidFill>
              </a:defRPr>
            </a:pPr>
            <a:r>
              <a:t>• Repeat until every fold is used for validation.</a:t>
            </a:r>
          </a:p>
          <a:p>
            <a:pPr>
              <a:spcAft>
                <a:spcPts val="700"/>
              </a:spcAft>
              <a:defRPr sz="1400">
                <a:solidFill>
                  <a:srgbClr val="262626"/>
                </a:solidFill>
              </a:defRPr>
            </a:pPr>
            <a:r>
              <a:t>• Compare MAE, MSE, RMSE and R².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" y="3383280"/>
          <a:ext cx="10789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MAE ↓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MSE ↓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RMSE ↓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R² ↑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</a:rPr>
                        <a:t>0.5118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</a:rPr>
                        <a:t>0.4417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</a:rPr>
                        <a:t>0.6645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</a:rPr>
                        <a:t>0.3465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</a:rPr>
                        <a:t>0.4931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</a:rPr>
                        <a:t>0.4150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</a:rPr>
                        <a:t>0.6440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</a:rPr>
                        <a:t>0.3853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" y="5486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F7A57"/>
                </a:solidFill>
              </a:rPr>
              <a:t>Random Forest performs better on every reported metric.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12. What Drives the Random Forest?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Feature importance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14</a:t>
            </a:r>
          </a:p>
        </p:txBody>
      </p:sp>
      <p:pic>
        <p:nvPicPr>
          <p:cNvPr id="9" name="Picture 8" descr="image(20261004-21452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6492240" cy="43316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0" y="1097280"/>
          <a:ext cx="4114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Importance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Alcohol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0.2777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Sulphates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0.1392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Volatile acidity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0.1295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Total SO₂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0.0770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Chlorides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0.0623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Residual sugar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0.0583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0.0578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Density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0.0520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Fixed acidity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0.0506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Citric acid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0.0483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Free SO₂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62626"/>
                          </a:solidFill>
                        </a:rPr>
                        <a:t>0.0475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54406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263B"/>
                </a:solidFill>
              </a:rPr>
              <a:t>Alcohol is the dominant predictor in the Random Forest, consistent with the statistical correlation and group-comparison results.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13.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What should the class remember?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9144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914400"/>
            <a:ext cx="73152" cy="1417320"/>
          </a:xfrm>
          <a:prstGeom prst="rect">
            <a:avLst/>
          </a:prstGeom>
          <a:solidFill>
            <a:srgbClr val="80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0789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17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1,359 unique wines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476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after removing 240 exact duplicates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9144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914400"/>
            <a:ext cx="73152" cy="1417320"/>
          </a:xfrm>
          <a:prstGeom prst="rect">
            <a:avLst/>
          </a:prstGeom>
          <a:solidFill>
            <a:srgbClr val="C79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0789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417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Alcohol: 10.4323%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9476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95% CI = [10.3747%, 10.4899%]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9144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914400"/>
            <a:ext cx="73152" cy="1417320"/>
          </a:xfrm>
          <a:prstGeom prst="rect">
            <a:avLst/>
          </a:prstGeom>
          <a:solidFill>
            <a:srgbClr val="9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10789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GROUP EFFECT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1417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+0.9669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19476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high-quality vs low-quality mean alcohol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7432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2743200"/>
            <a:ext cx="73152" cy="1417320"/>
          </a:xfrm>
          <a:prstGeom prst="rect">
            <a:avLst/>
          </a:prstGeom>
          <a:solidFill>
            <a:srgbClr val="2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907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CORRELATION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246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r = 0.4803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776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positive, highly significant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27432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2743200"/>
            <a:ext cx="73152" cy="1417320"/>
          </a:xfrm>
          <a:prstGeom prst="rect">
            <a:avLst/>
          </a:prstGeom>
          <a:solidFill>
            <a:srgbClr val="80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2907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SAMPLE SIZE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246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CI width: 0.6205 → 0.1340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776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n = 50 → 1,000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27432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92440" y="2743200"/>
            <a:ext cx="73152" cy="1417320"/>
          </a:xfrm>
          <a:prstGeom prst="rect">
            <a:avLst/>
          </a:prstGeom>
          <a:solidFill>
            <a:srgbClr val="C79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19" y="2907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6969"/>
                </a:solidFill>
              </a:rPr>
              <a:t>BEST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3246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63B"/>
                </a:solidFill>
              </a:rPr>
              <a:t>Random Forest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3776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</a:rPr>
              <a:t>RMSE 0.6440 | R² 0.3853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617720"/>
            <a:ext cx="10515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626"/>
                </a:solidFill>
              </a:defRPr>
            </a:pPr>
            <a:r>
              <a:t>• Wine quality is related to multiple physicochemical properties—not one variable.</a:t>
            </a:r>
          </a:p>
          <a:p>
            <a:pPr>
              <a:spcAft>
                <a:spcPts val="700"/>
              </a:spcAft>
              <a:defRPr sz="1500">
                <a:solidFill>
                  <a:srgbClr val="262626"/>
                </a:solidFill>
              </a:defRPr>
            </a:pPr>
            <a:r>
              <a:t>• Alcohol is the strongest and most consistent signal in this analysis.</a:t>
            </a:r>
          </a:p>
          <a:p>
            <a:pPr>
              <a:spcAft>
                <a:spcPts val="700"/>
              </a:spcAft>
              <a:defRPr sz="1500">
                <a:solidFill>
                  <a:srgbClr val="262626"/>
                </a:solidFill>
              </a:defRPr>
            </a:pPr>
            <a:r>
              <a:t>• Larger samples provide more precise statistical estimates.</a:t>
            </a:r>
          </a:p>
          <a:p>
            <a:pPr>
              <a:spcAft>
                <a:spcPts val="700"/>
              </a:spcAft>
              <a:defRPr sz="1500">
                <a:solidFill>
                  <a:srgbClr val="262626"/>
                </a:solidFill>
              </a:defRPr>
            </a:pPr>
            <a:r>
              <a:t>• Prediction is useful, but the moderate R² shows that quality remains only partly explained.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14. Limitations &amp;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What we should NOT conclude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62626"/>
                </a:solidFill>
              </a:defRPr>
            </a:pPr>
            <a:r>
              <a:t>• Correlation does not imply causation.</a:t>
            </a:r>
          </a:p>
          <a:p>
            <a:pPr>
              <a:spcAft>
                <a:spcPts val="700"/>
              </a:spcAft>
              <a:defRPr sz="1600">
                <a:solidFill>
                  <a:srgbClr val="262626"/>
                </a:solidFill>
              </a:defRPr>
            </a:pPr>
            <a:r>
              <a:t>• Quality is a sensory score and may contain subjectivity.</a:t>
            </a:r>
          </a:p>
          <a:p>
            <a:pPr>
              <a:spcAft>
                <a:spcPts val="700"/>
              </a:spcAft>
              <a:defRPr sz="1600">
                <a:solidFill>
                  <a:srgbClr val="262626"/>
                </a:solidFill>
              </a:defRPr>
            </a:pPr>
            <a:r>
              <a:t>• Exact-duplicate removal is a methodological choice.</a:t>
            </a:r>
          </a:p>
          <a:p>
            <a:pPr>
              <a:spcAft>
                <a:spcPts val="700"/>
              </a:spcAft>
              <a:defRPr sz="1600">
                <a:solidFill>
                  <a:srgbClr val="262626"/>
                </a:solidFill>
              </a:defRPr>
            </a:pPr>
            <a:r>
              <a:t>• The quality distribution is concentrated around scores 5 and 6.</a:t>
            </a:r>
          </a:p>
          <a:p>
            <a:pPr>
              <a:spcAft>
                <a:spcPts val="700"/>
              </a:spcAft>
              <a:defRPr sz="1600">
                <a:solidFill>
                  <a:srgbClr val="262626"/>
                </a:solidFill>
              </a:defRPr>
            </a:pPr>
            <a:r>
              <a:t>• Repeated samples come from the same finite dataset.</a:t>
            </a:r>
          </a:p>
          <a:p>
            <a:pPr>
              <a:spcAft>
                <a:spcPts val="700"/>
              </a:spcAft>
              <a:defRPr sz="1600">
                <a:solidFill>
                  <a:srgbClr val="262626"/>
                </a:solidFill>
              </a:defRPr>
            </a:pPr>
            <a:r>
              <a:t>• Only 30 repetitions per sample size were used.</a:t>
            </a:r>
          </a:p>
          <a:p>
            <a:pPr>
              <a:spcAft>
                <a:spcPts val="700"/>
              </a:spcAft>
              <a:defRPr sz="1600">
                <a:solidFill>
                  <a:srgbClr val="262626"/>
                </a:solidFill>
              </a:defRPr>
            </a:pPr>
            <a:r>
              <a:t>• Random Forest feature importance is model-specific.</a:t>
            </a:r>
          </a:p>
          <a:p>
            <a:pPr>
              <a:spcAft>
                <a:spcPts val="700"/>
              </a:spcAft>
              <a:defRPr sz="1600">
                <a:solidFill>
                  <a:srgbClr val="262626"/>
                </a:solidFill>
              </a:defRPr>
            </a:pPr>
            <a:r>
              <a:t>• R² = 0.3853 means substantial quality variation remains unexplained.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417320"/>
            <a:ext cx="4389120" cy="3383280"/>
          </a:xfrm>
          <a:prstGeom prst="roundRect">
            <a:avLst/>
          </a:prstGeom>
          <a:solidFill>
            <a:srgbClr val="FFF9F1"/>
          </a:solidFill>
          <a:ln>
            <a:solidFill>
              <a:srgbClr val="C7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83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263B"/>
                </a:solidFill>
              </a:rPr>
              <a:t>Best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51460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</a:rPr>
              <a:t>The results identify
statistical associations,
uncertainty and predictive
patterns within this dataset.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5120640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A2D3E"/>
                </a:solidFill>
              </a:rPr>
              <a:t>They are not causal claims.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15.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554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CE6"/>
                </a:solidFill>
              </a:rPr>
              <a:t>From descriptive statistics to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Wine Quality |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2940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263B"/>
                </a:solidFill>
              </a:rPr>
              <a:t>A complete data-analytics workflow was demonstrated: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1965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61872" y="2103120"/>
            <a:ext cx="621792" cy="621792"/>
          </a:xfrm>
          <a:prstGeom prst="ellipse">
            <a:avLst/>
          </a:prstGeom>
          <a:solidFill>
            <a:srgbClr val="80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22199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B263B"/>
                </a:solidFill>
              </a:rPr>
              <a:t>Describe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</a:rPr>
              <a:t>Distributions &amp; variability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0320" y="2880360"/>
            <a:ext cx="274320" cy="0"/>
          </a:xfrm>
          <a:prstGeom prst="line">
            <a:avLst/>
          </a:prstGeom>
          <a:ln w="25400">
            <a:solidFill>
              <a:srgbClr val="C79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34640" y="1920240"/>
            <a:ext cx="1965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02152" y="2103120"/>
            <a:ext cx="621792" cy="621792"/>
          </a:xfrm>
          <a:prstGeom prst="ellipse">
            <a:avLst/>
          </a:prstGeom>
          <a:solidFill>
            <a:srgbClr val="C79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222199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8346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B263B"/>
                </a:solidFill>
              </a:rPr>
              <a:t>Infer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3375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</a:rPr>
              <a:t>CIs &amp; hypothesis tests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00600" y="2880360"/>
            <a:ext cx="274320" cy="0"/>
          </a:xfrm>
          <a:prstGeom prst="line">
            <a:avLst/>
          </a:prstGeom>
          <a:ln w="25400">
            <a:solidFill>
              <a:srgbClr val="C79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74920" y="1920240"/>
            <a:ext cx="1965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42431" y="2103120"/>
            <a:ext cx="621792" cy="621792"/>
          </a:xfrm>
          <a:prstGeom prst="ellipse">
            <a:avLst/>
          </a:prstGeom>
          <a:solidFill>
            <a:srgbClr val="9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42431" y="222199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8346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B263B"/>
                </a:solidFill>
              </a:rPr>
              <a:t>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3375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</a:rPr>
              <a:t>Quality groups &amp; correlation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79" y="2880360"/>
            <a:ext cx="274321" cy="0"/>
          </a:xfrm>
          <a:prstGeom prst="line">
            <a:avLst/>
          </a:prstGeom>
          <a:ln w="25400">
            <a:solidFill>
              <a:srgbClr val="C79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15200" y="1920240"/>
            <a:ext cx="1965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82712" y="2103120"/>
            <a:ext cx="621792" cy="621792"/>
          </a:xfrm>
          <a:prstGeom prst="ellipse">
            <a:avLst/>
          </a:prstGeom>
          <a:solidFill>
            <a:srgbClr val="2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2712" y="222199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8346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B263B"/>
                </a:solidFill>
              </a:rPr>
              <a:t>Sample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3375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</a:rPr>
              <a:t>Precision vs sample size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81160" y="2880360"/>
            <a:ext cx="274320" cy="0"/>
          </a:xfrm>
          <a:prstGeom prst="line">
            <a:avLst/>
          </a:prstGeom>
          <a:ln w="25400">
            <a:solidFill>
              <a:srgbClr val="C79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55480" y="1920240"/>
            <a:ext cx="1965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22992" y="2103120"/>
            <a:ext cx="621792" cy="621792"/>
          </a:xfrm>
          <a:prstGeom prst="ellipse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22992" y="222199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8346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B263B"/>
                </a:solidFill>
              </a:rPr>
              <a:t>Predict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3375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</a:rPr>
              <a:t>5-fold ML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6634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2626"/>
                </a:solidFill>
              </a:rPr>
              <a:t>Bottom line: alcohol is strongly associated with wine quality in this dataset, larger samples improve statistical precision, and Random Forest provides the strongest predictive baseline among the two tested models.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E0D6BE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DD4DC"/>
                </a:solidFill>
              </a:rPr>
              <a:t>Statistical Analysis &amp; Machine Learning-Based Prediction of Wine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4BEC8"/>
                </a:solidFill>
              </a:rPr>
              <a:t>Presented by: ______________________________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AB4"/>
                </a:solidFill>
              </a:rPr>
              <a:t>Data Analytics Coursework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