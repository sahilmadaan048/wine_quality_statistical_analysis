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4748B"/>
                </a:solidFill>
                <a:latin typeface="Aptos"/>
              </a:defRPr>
            </a:pPr>
            <a:r>
              <a:t>NATIONAL INSTITUTE OF TECHNOLOGY SRINAGAR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43B52"/>
                </a:solidFill>
                <a:latin typeface="Aptos"/>
              </a:defRPr>
            </a:pPr>
            <a:r>
              <a:rPr dirty="0"/>
              <a:t>Statistical Analysis and</a:t>
            </a:r>
            <a:br>
              <a:rPr dirty="0"/>
            </a:br>
            <a:r>
              <a:rPr dirty="0"/>
              <a:t>Machine Learning-Based Prediction of Wine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4748B"/>
                </a:solidFill>
                <a:latin typeface="Aptos"/>
              </a:defRPr>
            </a:pPr>
            <a:r>
              <a:rPr dirty="0"/>
              <a:t>Physicochemical properties • statistical inference • sampling •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3456432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83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ORIGINAL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1,599 rows</a:t>
            </a:r>
            <a:br/>
            <a:r>
              <a:t>11 predictors +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478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CLEANED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78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1,359 unique rows</a:t>
            </a:r>
            <a:br/>
            <a:r>
              <a:t>240 duplicate rows removed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910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STATISTICAL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Alcohol mean, CI,</a:t>
            </a:r>
            <a:br/>
            <a:r>
              <a:t>hypothesis tests, sampling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8" y="3794760"/>
            <a:ext cx="260604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34272" y="3904488"/>
            <a:ext cx="2313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ML TASK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34272" y="4233672"/>
            <a:ext cx="231343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Predict numerical quality</a:t>
            </a:r>
            <a:br/>
            <a:r>
              <a:t>Regression 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49240"/>
            <a:ext cx="106984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43B52"/>
                </a:solidFill>
                <a:latin typeface="Aptos"/>
              </a:defRPr>
            </a:pPr>
            <a:r>
              <a:rPr dirty="0"/>
              <a:t>Research question: </a:t>
            </a:r>
            <a:r>
              <a:rPr lang="en-US" sz="1600" b="1" dirty="0">
                <a:solidFill>
                  <a:srgbClr val="243B52"/>
                </a:solidFill>
                <a:latin typeface="Aptos"/>
              </a:rPr>
              <a:t>To what extent can the physicochemical properties of red wine explain variations in quality scores, and how accurately can machine learning models predict these scores?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01  |  DATASET AND 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What does the dataset look like?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UCI Red Wine Quality • 1,599 original rows • 1,359 rows after exact-duplicate removal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61848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94767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11 numerical physicochemical predictors; quality is a discrete numerical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88920"/>
            <a:ext cx="3017520" cy="114300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4944" y="289864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227832"/>
            <a:ext cx="2724912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No missing values. Removed 240 exact duplicate rows; duplicates were not automatically assumed to be errors.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69080"/>
            <a:ext cx="3017520" cy="128016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4944" y="4178808"/>
            <a:ext cx="2724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4507992"/>
            <a:ext cx="272491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Quality scores cluster around 5–6; rare scores are less represented. This is a discrete target distribution, not proof of normality.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574536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64748B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2 / 6</a:t>
            </a:r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888ACE2F-F2C7-C1C9-AF71-2D8D2F048E74}"/>
              </a:ext>
            </a:extLst>
          </p:cNvPr>
          <p:cNvSpPr/>
          <p:nvPr/>
        </p:nvSpPr>
        <p:spPr>
          <a:xfrm>
            <a:off x="3924301" y="1508758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78FBA7-9065-1F37-888A-B6CCCE337542}"/>
              </a:ext>
            </a:extLst>
          </p:cNvPr>
          <p:cNvSpPr txBox="1"/>
          <p:nvPr/>
        </p:nvSpPr>
        <p:spPr>
          <a:xfrm>
            <a:off x="4061461" y="1609342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FD529B9-539B-15F2-54D1-103BD391F6DB}"/>
              </a:ext>
            </a:extLst>
          </p:cNvPr>
          <p:cNvSpPr txBox="1"/>
          <p:nvPr/>
        </p:nvSpPr>
        <p:spPr>
          <a:xfrm>
            <a:off x="4061461" y="1874518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1,599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709658F-B12C-6DF0-F1CD-0EBE91A83B51}"/>
              </a:ext>
            </a:extLst>
          </p:cNvPr>
          <p:cNvSpPr txBox="1"/>
          <p:nvPr/>
        </p:nvSpPr>
        <p:spPr>
          <a:xfrm>
            <a:off x="4061461" y="2285998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original</a:t>
            </a:r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9E2D6DB3-B298-3FA9-B377-451D00F048C2}"/>
              </a:ext>
            </a:extLst>
          </p:cNvPr>
          <p:cNvSpPr/>
          <p:nvPr/>
        </p:nvSpPr>
        <p:spPr>
          <a:xfrm>
            <a:off x="3916679" y="2720340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370AFF8-A28A-DF09-2A8E-5C89D4AD8217}"/>
              </a:ext>
            </a:extLst>
          </p:cNvPr>
          <p:cNvSpPr txBox="1"/>
          <p:nvPr/>
        </p:nvSpPr>
        <p:spPr>
          <a:xfrm>
            <a:off x="4053838" y="2820924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COLUMNS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154F0B0-2DBF-4327-6E95-85BA3552553A}"/>
              </a:ext>
            </a:extLst>
          </p:cNvPr>
          <p:cNvSpPr txBox="1"/>
          <p:nvPr/>
        </p:nvSpPr>
        <p:spPr>
          <a:xfrm>
            <a:off x="4053838" y="3086100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32DFB3D-C242-9AA8-55B3-8B43C2D2EA35}"/>
              </a:ext>
            </a:extLst>
          </p:cNvPr>
          <p:cNvSpPr txBox="1"/>
          <p:nvPr/>
        </p:nvSpPr>
        <p:spPr>
          <a:xfrm>
            <a:off x="4053838" y="3497580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11 features + target</a:t>
            </a:r>
          </a:p>
        </p:txBody>
      </p:sp>
      <p:sp>
        <p:nvSpPr>
          <p:cNvPr id="38" name="Rounded Rectangle 12">
            <a:extLst>
              <a:ext uri="{FF2B5EF4-FFF2-40B4-BE49-F238E27FC236}">
                <a16:creationId xmlns:a16="http://schemas.microsoft.com/office/drawing/2014/main" id="{D0C3FC47-80BC-A966-7415-6FD4367597B0}"/>
              </a:ext>
            </a:extLst>
          </p:cNvPr>
          <p:cNvSpPr/>
          <p:nvPr/>
        </p:nvSpPr>
        <p:spPr>
          <a:xfrm>
            <a:off x="3916679" y="4064509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19C5FF-BEBF-B49A-E9A2-7F7F0B930C4F}"/>
              </a:ext>
            </a:extLst>
          </p:cNvPr>
          <p:cNvSpPr txBox="1"/>
          <p:nvPr/>
        </p:nvSpPr>
        <p:spPr>
          <a:xfrm>
            <a:off x="4053839" y="4165093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18B66-81EC-27A1-72B2-1EB5E6CD0C6B}"/>
              </a:ext>
            </a:extLst>
          </p:cNvPr>
          <p:cNvSpPr txBox="1"/>
          <p:nvPr/>
        </p:nvSpPr>
        <p:spPr>
          <a:xfrm>
            <a:off x="4053839" y="4430269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2796BF7-8F85-DF4A-2E93-6872E7DD0B32}"/>
              </a:ext>
            </a:extLst>
          </p:cNvPr>
          <p:cNvSpPr txBox="1"/>
          <p:nvPr/>
        </p:nvSpPr>
        <p:spPr>
          <a:xfrm>
            <a:off x="4053839" y="4841749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no imputation</a:t>
            </a:r>
          </a:p>
        </p:txBody>
      </p:sp>
      <p:sp>
        <p:nvSpPr>
          <p:cNvPr id="46" name="Rounded Rectangle 16">
            <a:extLst>
              <a:ext uri="{FF2B5EF4-FFF2-40B4-BE49-F238E27FC236}">
                <a16:creationId xmlns:a16="http://schemas.microsoft.com/office/drawing/2014/main" id="{9EBBCF44-EF3F-BF52-2DAE-78EBB175D947}"/>
              </a:ext>
            </a:extLst>
          </p:cNvPr>
          <p:cNvSpPr/>
          <p:nvPr/>
        </p:nvSpPr>
        <p:spPr>
          <a:xfrm>
            <a:off x="3916679" y="5289805"/>
            <a:ext cx="2331720" cy="1051560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5E26E5-6742-376E-D208-7D661823B689}"/>
              </a:ext>
            </a:extLst>
          </p:cNvPr>
          <p:cNvSpPr txBox="1"/>
          <p:nvPr/>
        </p:nvSpPr>
        <p:spPr>
          <a:xfrm>
            <a:off x="4053839" y="5390389"/>
            <a:ext cx="205740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7FD48D2-409E-679F-3B18-B06F5EA516B4}"/>
              </a:ext>
            </a:extLst>
          </p:cNvPr>
          <p:cNvSpPr txBox="1"/>
          <p:nvPr/>
        </p:nvSpPr>
        <p:spPr>
          <a:xfrm>
            <a:off x="4053839" y="5655565"/>
            <a:ext cx="205740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rPr dirty="0"/>
              <a:t>240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62C84A8-4289-CAAE-4C4F-D6556FF64CFE}"/>
              </a:ext>
            </a:extLst>
          </p:cNvPr>
          <p:cNvSpPr txBox="1"/>
          <p:nvPr/>
        </p:nvSpPr>
        <p:spPr>
          <a:xfrm>
            <a:off x="4053839" y="6067045"/>
            <a:ext cx="205740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exact duplicate rows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6E962522-D2B8-E1AC-C61C-D0C2FB9F5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918" y="581525"/>
            <a:ext cx="2471454" cy="1542528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E5AFA77-38C0-1CD8-6986-CD653EC1B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372" y="484629"/>
            <a:ext cx="2932336" cy="186080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943F821-1C0D-0944-5895-26CAB9C650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918" y="2748313"/>
            <a:ext cx="5232361" cy="30832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43B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064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748B"/>
                </a:solidFill>
                <a:latin typeface="Aptos"/>
              </a:defRPr>
            </a:pPr>
            <a:r>
              <a:t>02  |  STATISTICAL INFERENCE AND 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243B52"/>
                </a:solidFill>
                <a:latin typeface="Aptos"/>
              </a:defRPr>
            </a:pPr>
            <a:r>
              <a:t>Alcohol, hypothesis tests and sample-size effects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33271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64748B"/>
                </a:solidFill>
                <a:latin typeface="Aptos"/>
              </a:defRPr>
            </a:pPr>
            <a:r>
              <a:t>The notebook's observed results are shown below; statistical significance does not imply causation.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" y="1527048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ALCOHOL MEAN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856232"/>
            <a:ext cx="2816352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t>10.4323%</a:t>
            </a:r>
            <a:br/>
            <a:r>
              <a:t>95% CI: 10.3747%–10.4899%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328416"/>
            <a:ext cx="310896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3438144"/>
            <a:ext cx="2816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GROUP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3767328"/>
            <a:ext cx="281635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dirty="0"/>
              <a:t>Mean alcohol: quality ≤5 = 9.9208%; quality ≥6 = 10.8876%.</a:t>
            </a:r>
            <a:br>
              <a:rPr dirty="0"/>
            </a:br>
            <a:r>
              <a:rPr dirty="0"/>
              <a:t>Welch test: p ≈ 1.80 × 10⁻⁶⁹</a:t>
            </a:r>
            <a:endParaRPr lang="en-US" dirty="0"/>
          </a:p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lang="en-US" dirty="0"/>
              <a:t>Decision at α = 0.05: reject H₀</a:t>
            </a:r>
            <a:endParaRPr dirty="0"/>
          </a:p>
        </p:txBody>
      </p:sp>
      <p:pic>
        <p:nvPicPr>
          <p:cNvPr id="15" name="Picture 14" descr="sample_ci_wid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39" y="1417320"/>
            <a:ext cx="3840480" cy="2560320"/>
          </a:xfrm>
          <a:prstGeom prst="rect">
            <a:avLst/>
          </a:prstGeom>
        </p:spPr>
      </p:pic>
      <p:pic>
        <p:nvPicPr>
          <p:cNvPr id="16" name="Picture 15" descr="alcohol_box_by_qu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417320"/>
            <a:ext cx="3566160" cy="256032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3886200" y="4824984"/>
            <a:ext cx="7589520" cy="1325880"/>
          </a:xfrm>
          <a:prstGeom prst="roundRect">
            <a:avLst/>
          </a:prstGeom>
          <a:solidFill>
            <a:srgbClr val="F4F7FA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32505" y="4934712"/>
            <a:ext cx="7296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3B52"/>
                </a:solidFill>
                <a:latin typeface="Aptos"/>
              </a:defRPr>
            </a:pPr>
            <a:r>
              <a:t>SAMPLING AND CLT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32505" y="5263895"/>
            <a:ext cx="729691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1F2937"/>
                </a:solidFill>
                <a:latin typeface="Aptos"/>
              </a:defRPr>
            </a:pPr>
            <a:r>
              <a:rPr lang="en-US" sz="1050" dirty="0">
                <a:solidFill>
                  <a:srgbClr val="1F2937"/>
                </a:solidFill>
                <a:latin typeface="Aptos"/>
              </a:rPr>
              <a:t>Larger samples usually give smaller standard errors and narrower confidence intervals. The CLT explains how sample means are distributed, not how the original data is distributed.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3886200" y="6282944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0">
                <a:solidFill>
                  <a:srgbClr val="64748B"/>
                </a:solidFill>
                <a:latin typeface="Aptos"/>
              </a:defRPr>
            </a:pPr>
            <a:r>
              <a:rPr dirty="0"/>
              <a:t>Sampling method: SRS is a baseline; stratification by quality can preserve rare-score representation. For population estimates, account for stratum proportions.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748B"/>
                </a:solidFill>
                <a:latin typeface="Aptos"/>
              </a:defRPr>
            </a:pPr>
            <a:r>
              <a:t>3 / 6</a:t>
            </a:r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909A218E-C9F9-AE47-92D9-6207113C369D}"/>
              </a:ext>
            </a:extLst>
          </p:cNvPr>
          <p:cNvSpPr/>
          <p:nvPr/>
        </p:nvSpPr>
        <p:spPr>
          <a:xfrm>
            <a:off x="548640" y="5413248"/>
            <a:ext cx="2468880" cy="1078992"/>
          </a:xfrm>
          <a:prstGeom prst="roundRect">
            <a:avLst/>
          </a:prstGeom>
          <a:solidFill>
            <a:srgbClr val="F4F4F4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D4F6E7E-D8F0-C9E7-37BA-1B46547F2D6F}"/>
              </a:ext>
            </a:extLst>
          </p:cNvPr>
          <p:cNvSpPr txBox="1"/>
          <p:nvPr/>
        </p:nvSpPr>
        <p:spPr>
          <a:xfrm>
            <a:off x="685800" y="5513832"/>
            <a:ext cx="2194560" cy="20116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950" b="1">
                <a:solidFill>
                  <a:srgbClr val="696969"/>
                </a:solidFill>
                <a:latin typeface="Aptos"/>
              </a:defRPr>
            </a:pPr>
            <a:r>
              <a:t>CORRELATION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2BE263-C21D-C2EE-E6B8-124A6BB78B50}"/>
              </a:ext>
            </a:extLst>
          </p:cNvPr>
          <p:cNvSpPr txBox="1"/>
          <p:nvPr/>
        </p:nvSpPr>
        <p:spPr>
          <a:xfrm>
            <a:off x="685800" y="5779008"/>
            <a:ext cx="2194560" cy="384048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1750" b="1">
                <a:solidFill>
                  <a:srgbClr val="1E1E1E"/>
                </a:solidFill>
                <a:latin typeface="Aptos"/>
              </a:defRPr>
            </a:pPr>
            <a:r>
              <a:t>r = 0.4803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4701859-5F2C-A525-B2C9-0274BE5E645A}"/>
              </a:ext>
            </a:extLst>
          </p:cNvPr>
          <p:cNvSpPr txBox="1"/>
          <p:nvPr/>
        </p:nvSpPr>
        <p:spPr>
          <a:xfrm>
            <a:off x="685800" y="6217920"/>
            <a:ext cx="2194560" cy="173736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algn="l">
              <a:defRPr sz="850" b="0">
                <a:solidFill>
                  <a:srgbClr val="696969"/>
                </a:solidFill>
                <a:latin typeface="Aptos"/>
              </a:defRPr>
            </a:pPr>
            <a:r>
              <a:t>alcohol vs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B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064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00" b="1">
                <a:solidFill>
                  <a:srgbClr val="627488"/>
                </a:solidFill>
                <a:latin typeface="Aptos"/>
              </a:defRPr>
            </a:pPr>
            <a:r>
              <a:t>03  | 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2400" b="1">
                <a:solidFill>
                  <a:srgbClr val="2B4156"/>
                </a:solidFill>
                <a:latin typeface="Aptos"/>
              </a:defRPr>
            </a:pPr>
            <a:r>
              <a:t>Three-model regression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000" b="0">
                <a:solidFill>
                  <a:srgbClr val="627488"/>
                </a:solidFill>
                <a:latin typeface="Aptos"/>
              </a:defRPr>
            </a:pPr>
            <a:r>
              <a:t>Five-fold shuffled cross-validation • same splits for all three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>
              <a:defRPr sz="700" b="0">
                <a:solidFill>
                  <a:srgbClr val="627488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r">
              <a:defRPr sz="700" b="0">
                <a:solidFill>
                  <a:srgbClr val="627488"/>
                </a:solidFill>
                <a:latin typeface="Aptos"/>
              </a:defRPr>
            </a:pPr>
            <a:r>
              <a:t>4 / 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53312"/>
            <a:ext cx="3383280" cy="384048"/>
          </a:xfrm>
          <a:prstGeom prst="rect">
            <a:avLst/>
          </a:prstGeom>
          <a:solidFill>
            <a:srgbClr val="2B4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3" y="1371600"/>
            <a:ext cx="32735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353312"/>
            <a:ext cx="2468880" cy="384048"/>
          </a:xfrm>
          <a:prstGeom prst="rect">
            <a:avLst/>
          </a:prstGeom>
          <a:solidFill>
            <a:srgbClr val="2B4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86783" y="1371600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MAE 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53312"/>
            <a:ext cx="2468880" cy="384048"/>
          </a:xfrm>
          <a:prstGeom prst="rect">
            <a:avLst/>
          </a:prstGeom>
          <a:solidFill>
            <a:srgbClr val="2B4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371600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RMSE 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353312"/>
            <a:ext cx="2468880" cy="384048"/>
          </a:xfrm>
          <a:prstGeom prst="rect">
            <a:avLst/>
          </a:prstGeom>
          <a:solidFill>
            <a:srgbClr val="2B415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24544" y="1371600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R² 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37360"/>
            <a:ext cx="3383280" cy="384048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3" y="1755648"/>
            <a:ext cx="32735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l">
              <a:defRPr sz="950" b="0">
                <a:solidFill>
                  <a:srgbClr val="252F3A"/>
                </a:solidFill>
                <a:latin typeface="Aptos"/>
              </a:defRPr>
            </a:pPr>
            <a:r>
              <a:t>Linear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1737360"/>
            <a:ext cx="2468880" cy="384048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86783" y="1755648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0.5118 ± 0.0163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737360"/>
            <a:ext cx="2468880" cy="384048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55664" y="1755648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0.6645 ± 0.0113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1737360"/>
            <a:ext cx="2468880" cy="384048"/>
          </a:xfrm>
          <a:prstGeom prst="rect">
            <a:avLst/>
          </a:prstGeom>
          <a:solidFill>
            <a:srgbClr val="F6F8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24544" y="1755648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0.3465 ± 0.0291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121408"/>
            <a:ext cx="33832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3" y="2139696"/>
            <a:ext cx="32735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l">
              <a:defRPr sz="950" b="0">
                <a:solidFill>
                  <a:srgbClr val="252F3A"/>
                </a:solidFill>
                <a:latin typeface="Aptos"/>
              </a:defRPr>
            </a:pPr>
            <a:r>
              <a:t>Ridge Regression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12140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986783" y="2139696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0.5118 ± 0.0163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212140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5664" y="2139696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0.6645 ± 0.0113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121408"/>
            <a:ext cx="2468880" cy="38404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924544" y="2139696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0">
                <a:solidFill>
                  <a:srgbClr val="252F3A"/>
                </a:solidFill>
                <a:latin typeface="Aptos"/>
              </a:defRPr>
            </a:pPr>
            <a:r>
              <a:t>0.3466 ± 0.0291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2505456"/>
            <a:ext cx="3383280" cy="384048"/>
          </a:xfrm>
          <a:prstGeom prst="rect">
            <a:avLst/>
          </a:prstGeom>
          <a:solidFill>
            <a:srgbClr val="E0ED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3" y="2523744"/>
            <a:ext cx="32735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l">
              <a:defRPr sz="950" b="1">
                <a:solidFill>
                  <a:srgbClr val="252F3A"/>
                </a:solidFill>
                <a:latin typeface="Aptos"/>
              </a:defRPr>
            </a:pPr>
            <a: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31920" y="2505456"/>
            <a:ext cx="2468880" cy="384048"/>
          </a:xfrm>
          <a:prstGeom prst="rect">
            <a:avLst/>
          </a:prstGeom>
          <a:solidFill>
            <a:srgbClr val="E0ED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86783" y="2523744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1">
                <a:solidFill>
                  <a:srgbClr val="252F3A"/>
                </a:solidFill>
                <a:latin typeface="Aptos"/>
              </a:defRPr>
            </a:pPr>
            <a:r>
              <a:t>0.4930 ± 0.0162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505456"/>
            <a:ext cx="2468880" cy="384048"/>
          </a:xfrm>
          <a:prstGeom prst="rect">
            <a:avLst/>
          </a:prstGeom>
          <a:solidFill>
            <a:srgbClr val="E0ED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55664" y="2523744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1">
                <a:solidFill>
                  <a:srgbClr val="252F3A"/>
                </a:solidFill>
                <a:latin typeface="Aptos"/>
              </a:defRPr>
            </a:pPr>
            <a:r>
              <a:t>0.6442 ± 0.0170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2505456"/>
            <a:ext cx="2468880" cy="384048"/>
          </a:xfrm>
          <a:prstGeom prst="rect">
            <a:avLst/>
          </a:prstGeom>
          <a:solidFill>
            <a:srgbClr val="E0EDF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924544" y="2523744"/>
            <a:ext cx="2359152" cy="347472"/>
          </a:xfrm>
          <a:prstGeom prst="rect">
            <a:avLst/>
          </a:prstGeom>
          <a:noFill/>
        </p:spPr>
        <p:txBody>
          <a:bodyPr wrap="square" lIns="9144" tIns="9144" rIns="9144" bIns="9144" anchor="ctr">
            <a:normAutofit/>
          </a:bodyPr>
          <a:lstStyle/>
          <a:p>
            <a:pPr algn="ctr">
              <a:defRPr sz="950" b="1">
                <a:solidFill>
                  <a:srgbClr val="252F3A"/>
                </a:solidFill>
                <a:latin typeface="Aptos"/>
              </a:defRPr>
            </a:pPr>
            <a:r>
              <a:t>0.3850 ± 0.0488</a:t>
            </a:r>
          </a:p>
        </p:txBody>
      </p:sp>
      <p:pic>
        <p:nvPicPr>
          <p:cNvPr id="40" name="Picture 39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035808"/>
            <a:ext cx="10881360" cy="2606040"/>
          </a:xfrm>
          <a:prstGeom prst="rect">
            <a:avLst/>
          </a:prstGeom>
        </p:spPr>
      </p:pic>
      <p:sp>
        <p:nvSpPr>
          <p:cNvPr id="41" name="Rounded Rectangle 40"/>
          <p:cNvSpPr/>
          <p:nvPr/>
        </p:nvSpPr>
        <p:spPr>
          <a:xfrm>
            <a:off x="640080" y="5742432"/>
            <a:ext cx="10927080" cy="5029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5797296"/>
            <a:ext cx="1065276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normAutofit/>
          </a:bodyPr>
          <a:lstStyle/>
          <a:p>
            <a:pPr>
              <a:defRPr sz="1000" b="1">
                <a:solidFill>
                  <a:srgbClr val="2B4156"/>
                </a:solidFill>
                <a:latin typeface="Aptos"/>
              </a:defRPr>
            </a:pPr>
            <a:r>
              <a:t>Finding: Random Forest has the lowest mean MAE and RMSE and highest mean R² among these three models. Ridge and Linear Regression are almost identical.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B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064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00" b="1">
                <a:solidFill>
                  <a:srgbClr val="627488"/>
                </a:solidFill>
                <a:latin typeface="Aptos"/>
              </a:defRPr>
            </a:pPr>
            <a:r>
              <a:t>04  |  MODEL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2400" b="1">
                <a:solidFill>
                  <a:srgbClr val="2B4156"/>
                </a:solidFill>
                <a:latin typeface="Aptos"/>
              </a:defRPr>
            </a:pPr>
            <a:r>
              <a:t>What the Random Forest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000" b="0">
                <a:solidFill>
                  <a:srgbClr val="627488"/>
                </a:solidFill>
                <a:latin typeface="Aptos"/>
              </a:defRPr>
            </a:pPr>
            <a:r>
              <a:t>Feature importance indicates predictive usefulness, not causation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>
              <a:defRPr sz="700" b="0">
                <a:solidFill>
                  <a:srgbClr val="627488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r">
              <a:defRPr sz="700" b="0">
                <a:solidFill>
                  <a:srgbClr val="627488"/>
                </a:solidFill>
                <a:latin typeface="Aptos"/>
              </a:defRPr>
            </a:pPr>
            <a:r>
              <a:t>5 / 6</a:t>
            </a:r>
          </a:p>
        </p:txBody>
      </p:sp>
      <p:pic>
        <p:nvPicPr>
          <p:cNvPr id="8" name="Picture 7" descr="rf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89888"/>
            <a:ext cx="5532120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63640" y="1961388"/>
            <a:ext cx="5230368" cy="11887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28232" y="2052828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100" b="1">
                <a:solidFill>
                  <a:srgbClr val="2B4156"/>
                </a:solidFill>
                <a:latin typeface="Aptos"/>
              </a:defRPr>
            </a:pPr>
            <a:r>
              <a:t>THREE MODELS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2345436"/>
            <a:ext cx="489204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000" b="0">
                <a:solidFill>
                  <a:srgbClr val="252F3A"/>
                </a:solidFill>
                <a:latin typeface="Aptos"/>
              </a:defRPr>
            </a:pPr>
            <a:r>
              <a:t>Linear Regression fits a linear relationship. Ridge adds an L2 penalty to shrink coefficients. Random Forest averages many decision trees and can capture nonlinear patterns.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630169"/>
            <a:ext cx="5230368" cy="1188720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3721609"/>
            <a:ext cx="489204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100" b="1">
                <a:solidFill>
                  <a:srgbClr val="2B4156"/>
                </a:solidFill>
                <a:latin typeface="Aptos"/>
              </a:defRPr>
            </a:pPr>
            <a:r>
              <a:t>WHAT WE OBSERVED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4014217"/>
            <a:ext cx="4892040" cy="704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000" b="0">
                <a:solidFill>
                  <a:srgbClr val="252F3A"/>
                </a:solidFill>
                <a:latin typeface="Aptos"/>
              </a:defRPr>
            </a:pPr>
            <a:r>
              <a:t>Random Forest performed better than the two linear models: RMSE 0.6442 versus 0.6645. Alcohol had the highest impurity-based importance in this Random Forest fit.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2B41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064240" cy="21945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00" b="1">
                <a:solidFill>
                  <a:srgbClr val="627488"/>
                </a:solidFill>
                <a:latin typeface="Aptos"/>
              </a:defRPr>
            </a:pPr>
            <a:r>
              <a:t>05  |  CONCLUSION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10642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2400" b="1">
                <a:solidFill>
                  <a:srgbClr val="2B4156"/>
                </a:solidFill>
                <a:latin typeface="Aptos"/>
              </a:defRPr>
            </a:pPr>
            <a: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0120"/>
            <a:ext cx="1097280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1000" b="0">
                <a:solidFill>
                  <a:srgbClr val="627488"/>
                </a:solidFill>
                <a:latin typeface="Aptos"/>
              </a:defRPr>
            </a:pPr>
            <a:r>
              <a:t>Statistical inference, sampling behaviour and a focused three-model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98755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>
              <a:defRPr sz="700" b="0">
                <a:solidFill>
                  <a:srgbClr val="627488"/>
                </a:solidFill>
                <a:latin typeface="Aptos"/>
              </a:defRPr>
            </a:pPr>
            <a:r>
              <a:t>NIT Srinagar  |  Data Analytics Project  |  Red Wine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47104"/>
            <a:ext cx="685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fontScale="92500"/>
          </a:bodyPr>
          <a:lstStyle/>
          <a:p>
            <a:pPr algn="r">
              <a:defRPr sz="700" b="0">
                <a:solidFill>
                  <a:srgbClr val="627488"/>
                </a:solidFill>
                <a:latin typeface="Aptos"/>
              </a:defRPr>
            </a:pPr>
            <a:r>
              <a:t>6 /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5349240" cy="111556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481328"/>
            <a:ext cx="505663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>
              <a:defRPr sz="1100" b="1">
                <a:solidFill>
                  <a:srgbClr val="2B4156"/>
                </a:solidFill>
                <a:latin typeface="Aptos"/>
              </a:defRPr>
            </a:pPr>
            <a:r>
              <a:t>STATISTICS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764792"/>
            <a:ext cx="5056631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69" b="0">
                <a:solidFill>
                  <a:srgbClr val="252F3A"/>
                </a:solidFill>
                <a:latin typeface="Aptos"/>
              </a:defRPr>
            </a:pPr>
            <a:r>
              <a:rPr dirty="0"/>
              <a:t>Mean alcohol = 10.4323%; 95% CI = 10.3747%–10.4899%. The </a:t>
            </a:r>
            <a:r>
              <a:rPr lang="en-US" dirty="0"/>
              <a:t>two</a:t>
            </a:r>
            <a:r>
              <a:rPr dirty="0"/>
              <a:t>-sample test rejected μ = 10% at α = 0.05.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49240" cy="111556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481328"/>
            <a:ext cx="505663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>
              <a:defRPr sz="1100" b="1">
                <a:solidFill>
                  <a:srgbClr val="2B4156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4224" y="1764792"/>
            <a:ext cx="5056631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69" b="0">
                <a:solidFill>
                  <a:srgbClr val="252F3A"/>
                </a:solidFill>
                <a:latin typeface="Aptos"/>
              </a:defRPr>
            </a:pPr>
            <a:r>
              <a:t>Across 30 repetitions, larger samples generally produced narrower average confidence intervals and more stable sample means.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1380" y="2688335"/>
            <a:ext cx="5349240" cy="1115568"/>
          </a:xfrm>
          <a:prstGeom prst="roundRect">
            <a:avLst/>
          </a:prstGeom>
          <a:solidFill>
            <a:srgbClr val="F3F7FA"/>
          </a:solidFill>
          <a:ln w="12700">
            <a:solidFill>
              <a:srgbClr val="CF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67684" y="2798063"/>
            <a:ext cx="5056631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>
              <a:defRPr sz="1100" b="1">
                <a:solidFill>
                  <a:srgbClr val="2B4156"/>
                </a:solidFill>
                <a:latin typeface="Aptos"/>
              </a:defRPr>
            </a:pPr>
            <a:r>
              <a:t>MODEL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7684" y="3081527"/>
            <a:ext cx="5056631" cy="6126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969" b="0">
                <a:solidFill>
                  <a:srgbClr val="252F3A"/>
                </a:solidFill>
                <a:latin typeface="Aptos"/>
              </a:defRPr>
            </a:pPr>
            <a:r>
              <a:t>Random Forest was strongest among Linear Regression, Ridge Regression and Random Forest: RMSE = 0.6442; R² = 0.3850.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7"/>
            <a:ext cx="1078992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 lnSpcReduction="10000"/>
          </a:bodyPr>
          <a:lstStyle/>
          <a:p>
            <a:pPr>
              <a:defRPr sz="1500" b="1">
                <a:solidFill>
                  <a:srgbClr val="2B4156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7" y="4425695"/>
            <a:ext cx="7965947" cy="128930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rmAutofit/>
          </a:bodyPr>
          <a:lstStyle/>
          <a:p>
            <a:pPr>
              <a:defRPr sz="850" b="0">
                <a:solidFill>
                  <a:srgbClr val="252F3A"/>
                </a:solidFill>
                <a:latin typeface="Aptos"/>
              </a:defRPr>
            </a:pPr>
            <a:r>
              <a:rPr lang="en-US" sz="1000" dirty="0"/>
              <a:t>1</a:t>
            </a:r>
            <a:r>
              <a:rPr sz="1000" dirty="0"/>
              <a:t>. UCI Machine Learning Repository. Wine Quality Dataset. https://archive.ics.uci.edu/dataset/186/wine+quality</a:t>
            </a:r>
            <a:br>
              <a:rPr sz="1000" dirty="0"/>
            </a:br>
            <a:r>
              <a:rPr lang="en-US" sz="1000" dirty="0"/>
              <a:t>2</a:t>
            </a:r>
            <a:r>
              <a:rPr sz="1000" dirty="0"/>
              <a:t>. scikit-learn documentation: Linear Models, Ridge Regression, and Random Forests. https://scikit-learn.org/stable/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710</Words>
  <Application>Microsoft Office PowerPoint</Application>
  <PresentationFormat>Widescreen</PresentationFormat>
  <Paragraphs>96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Sahil Madaan</cp:lastModifiedBy>
  <cp:revision>8</cp:revision>
  <dcterms:created xsi:type="dcterms:W3CDTF">2013-01-27T09:14:16Z</dcterms:created>
  <dcterms:modified xsi:type="dcterms:W3CDTF">2026-10-16T09:01:39Z</dcterms:modified>
  <cp:category/>
</cp:coreProperties>
</file>