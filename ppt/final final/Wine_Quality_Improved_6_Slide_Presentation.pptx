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ptos"/>
              </a:defRPr>
            </a:pPr>
            <a:r>
              <a:t>NATIONAL INSTITUTE OF TECHNOLOGY SRINAGAR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43B52"/>
                </a:solidFill>
                <a:latin typeface="Aptos"/>
              </a:defRPr>
            </a:pPr>
            <a:r>
              <a:t>Statistical Analysis and</a:t>
            </a:r>
            <a:br/>
            <a:r>
              <a:t>Machine Learning-Based Prediction of Wine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4748B"/>
                </a:solidFill>
                <a:latin typeface="Aptos"/>
              </a:defRPr>
            </a:pPr>
            <a:r>
              <a:t>Physicochemical properties • statistical inference • sampling • regression and neural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456432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3794760"/>
            <a:ext cx="260604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3904488"/>
            <a:ext cx="2313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ORIGINAL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233672"/>
            <a:ext cx="231343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1,599 rows</a:t>
            </a:r>
            <a:br/>
            <a:r>
              <a:t>11 predictors +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3794760"/>
            <a:ext cx="260604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47872" y="3904488"/>
            <a:ext cx="2313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CLEANED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4233672"/>
            <a:ext cx="231343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1,359 unique rows</a:t>
            </a:r>
            <a:br/>
            <a:r>
              <a:t>240 duplicate rows removed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3794760"/>
            <a:ext cx="260604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1072" y="3904488"/>
            <a:ext cx="2313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STATISTICAL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4233672"/>
            <a:ext cx="231343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Alcohol mean, CI,</a:t>
            </a:r>
            <a:br/>
            <a:r>
              <a:t>hypothesis tests, sampling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3794760"/>
            <a:ext cx="260604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34272" y="3904488"/>
            <a:ext cx="2313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ML 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272" y="4233672"/>
            <a:ext cx="231343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Predict numerical quality</a:t>
            </a:r>
            <a:br/>
            <a:r>
              <a:t>Regression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49240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3B52"/>
                </a:solidFill>
                <a:latin typeface="Aptos"/>
              </a:defRPr>
            </a:pPr>
            <a:r>
              <a:rPr dirty="0"/>
              <a:t>Research question: </a:t>
            </a:r>
            <a:r>
              <a:rPr lang="en-US" sz="1600" b="1" dirty="0">
                <a:solidFill>
                  <a:srgbClr val="243B52"/>
                </a:solidFill>
                <a:latin typeface="Aptos"/>
              </a:rPr>
              <a:t>To what extent can the physicochemical properties of red wine explain variations in quality scores, and how accurately can machine learning models predict these scores?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NIT Srinagar  |  Data Analytics Project  |  Red Wine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01  |  DATASET AND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43B52"/>
                </a:solidFill>
                <a:latin typeface="Aptos"/>
              </a:defRPr>
            </a:pPr>
            <a:r>
              <a:t>What does the dataset look like?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UCI Red Wine Quality • 1,599 original rows • 1,359 rows after exact-duplicate removal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0175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DATA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47672"/>
            <a:ext cx="272491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11 numerical physicochemical predictors; quality is a discrete numerical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30175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898648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227832"/>
            <a:ext cx="272491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No missing values. Removed 240 exact duplicate rows; duplicates were not automatically assumed to be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301752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4178808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507992"/>
            <a:ext cx="27249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rPr dirty="0"/>
              <a:t>Quality scores cluster around 5–6; rare scores are less represented. This is a discrete target distribution, not proof of normality.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74536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NIT Srinagar  |  Data Analytics Project  |  Red Wine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2 / 6</a:t>
            </a:r>
          </a:p>
        </p:txBody>
      </p:sp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888ACE2F-F2C7-C1C9-AF71-2D8D2F048E74}"/>
              </a:ext>
            </a:extLst>
          </p:cNvPr>
          <p:cNvSpPr/>
          <p:nvPr/>
        </p:nvSpPr>
        <p:spPr>
          <a:xfrm>
            <a:off x="3924301" y="1508758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78FBA7-9065-1F37-888A-B6CCCE337542}"/>
              </a:ext>
            </a:extLst>
          </p:cNvPr>
          <p:cNvSpPr txBox="1"/>
          <p:nvPr/>
        </p:nvSpPr>
        <p:spPr>
          <a:xfrm>
            <a:off x="4061461" y="1609342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D529B9-539B-15F2-54D1-103BD391F6DB}"/>
              </a:ext>
            </a:extLst>
          </p:cNvPr>
          <p:cNvSpPr txBox="1"/>
          <p:nvPr/>
        </p:nvSpPr>
        <p:spPr>
          <a:xfrm>
            <a:off x="4061461" y="1874518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1,599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09658F-B12C-6DF0-F1CD-0EBE91A83B51}"/>
              </a:ext>
            </a:extLst>
          </p:cNvPr>
          <p:cNvSpPr txBox="1"/>
          <p:nvPr/>
        </p:nvSpPr>
        <p:spPr>
          <a:xfrm>
            <a:off x="4061461" y="2285998"/>
            <a:ext cx="205740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original</a:t>
            </a: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9E2D6DB3-B298-3FA9-B377-451D00F048C2}"/>
              </a:ext>
            </a:extLst>
          </p:cNvPr>
          <p:cNvSpPr/>
          <p:nvPr/>
        </p:nvSpPr>
        <p:spPr>
          <a:xfrm>
            <a:off x="3916679" y="2720340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70AFF8-A28A-DF09-2A8E-5C89D4AD8217}"/>
              </a:ext>
            </a:extLst>
          </p:cNvPr>
          <p:cNvSpPr txBox="1"/>
          <p:nvPr/>
        </p:nvSpPr>
        <p:spPr>
          <a:xfrm>
            <a:off x="4053838" y="2820924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54F0B0-2DBF-4327-6E95-85BA3552553A}"/>
              </a:ext>
            </a:extLst>
          </p:cNvPr>
          <p:cNvSpPr txBox="1"/>
          <p:nvPr/>
        </p:nvSpPr>
        <p:spPr>
          <a:xfrm>
            <a:off x="4053838" y="3086100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2DFB3D-C242-9AA8-55B3-8B43C2D2EA35}"/>
              </a:ext>
            </a:extLst>
          </p:cNvPr>
          <p:cNvSpPr txBox="1"/>
          <p:nvPr/>
        </p:nvSpPr>
        <p:spPr>
          <a:xfrm>
            <a:off x="4053838" y="3497580"/>
            <a:ext cx="205740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11 features + target</a:t>
            </a:r>
          </a:p>
        </p:txBody>
      </p:sp>
      <p:sp>
        <p:nvSpPr>
          <p:cNvPr id="38" name="Rounded Rectangle 12">
            <a:extLst>
              <a:ext uri="{FF2B5EF4-FFF2-40B4-BE49-F238E27FC236}">
                <a16:creationId xmlns:a16="http://schemas.microsoft.com/office/drawing/2014/main" id="{D0C3FC47-80BC-A966-7415-6FD4367597B0}"/>
              </a:ext>
            </a:extLst>
          </p:cNvPr>
          <p:cNvSpPr/>
          <p:nvPr/>
        </p:nvSpPr>
        <p:spPr>
          <a:xfrm>
            <a:off x="3916679" y="4064509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19C5FF-BEBF-B49A-E9A2-7F7F0B930C4F}"/>
              </a:ext>
            </a:extLst>
          </p:cNvPr>
          <p:cNvSpPr txBox="1"/>
          <p:nvPr/>
        </p:nvSpPr>
        <p:spPr>
          <a:xfrm>
            <a:off x="4053839" y="4165093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F18B66-81EC-27A1-72B2-1EB5E6CD0C6B}"/>
              </a:ext>
            </a:extLst>
          </p:cNvPr>
          <p:cNvSpPr txBox="1"/>
          <p:nvPr/>
        </p:nvSpPr>
        <p:spPr>
          <a:xfrm>
            <a:off x="4053839" y="4430269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796BF7-8F85-DF4A-2E93-6872E7DD0B32}"/>
              </a:ext>
            </a:extLst>
          </p:cNvPr>
          <p:cNvSpPr txBox="1"/>
          <p:nvPr/>
        </p:nvSpPr>
        <p:spPr>
          <a:xfrm>
            <a:off x="4053839" y="4841749"/>
            <a:ext cx="205740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no imputation</a:t>
            </a:r>
          </a:p>
        </p:txBody>
      </p:sp>
      <p:sp>
        <p:nvSpPr>
          <p:cNvPr id="46" name="Rounded Rectangle 16">
            <a:extLst>
              <a:ext uri="{FF2B5EF4-FFF2-40B4-BE49-F238E27FC236}">
                <a16:creationId xmlns:a16="http://schemas.microsoft.com/office/drawing/2014/main" id="{9EBBCF44-EF3F-BF52-2DAE-78EBB175D947}"/>
              </a:ext>
            </a:extLst>
          </p:cNvPr>
          <p:cNvSpPr/>
          <p:nvPr/>
        </p:nvSpPr>
        <p:spPr>
          <a:xfrm>
            <a:off x="3916679" y="5289805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5E26E5-6742-376E-D208-7D661823B689}"/>
              </a:ext>
            </a:extLst>
          </p:cNvPr>
          <p:cNvSpPr txBox="1"/>
          <p:nvPr/>
        </p:nvSpPr>
        <p:spPr>
          <a:xfrm>
            <a:off x="4053839" y="5390389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FD48D2-409E-679F-3B18-B06F5EA516B4}"/>
              </a:ext>
            </a:extLst>
          </p:cNvPr>
          <p:cNvSpPr txBox="1"/>
          <p:nvPr/>
        </p:nvSpPr>
        <p:spPr>
          <a:xfrm>
            <a:off x="4053839" y="5655565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rPr dirty="0"/>
              <a:t>240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2C84A8-4289-CAAE-4C4F-D6556FF64CFE}"/>
              </a:ext>
            </a:extLst>
          </p:cNvPr>
          <p:cNvSpPr txBox="1"/>
          <p:nvPr/>
        </p:nvSpPr>
        <p:spPr>
          <a:xfrm>
            <a:off x="4053839" y="6067045"/>
            <a:ext cx="205740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exact duplicate rows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6E962522-D2B8-E1AC-C61C-D0C2FB9F5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918" y="581525"/>
            <a:ext cx="2471454" cy="1542528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E5AFA77-38C0-1CD8-6986-CD653EC1B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372" y="484629"/>
            <a:ext cx="2932336" cy="186080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943F821-1C0D-0944-5895-26CAB9C65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918" y="2748313"/>
            <a:ext cx="5232361" cy="30832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02  |  STATISTICAL INFERENCE AND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43B52"/>
                </a:solidFill>
                <a:latin typeface="Aptos"/>
              </a:defRPr>
            </a:pPr>
            <a:r>
              <a:t>Alcohol, hypothesis tests and sample-size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The notebook's observed results are shown below; statistical significance does not imply causation.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10896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52704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ALCOHOL 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856232"/>
            <a:ext cx="281635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10.4323%</a:t>
            </a:r>
            <a:br/>
            <a:r>
              <a:t>95% CI: 10.3747%–10.4899%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31089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89864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ONE-SAMPLE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227832"/>
            <a:ext cx="28163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rPr dirty="0"/>
              <a:t>H₀: μ = 10%</a:t>
            </a:r>
            <a:br>
              <a:rPr dirty="0"/>
            </a:br>
            <a:r>
              <a:rPr dirty="0"/>
              <a:t> t = 14.7284;</a:t>
            </a:r>
            <a:endParaRPr lang="en-US" dirty="0"/>
          </a:p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rPr dirty="0"/>
              <a:t> p ≈ 1.16 × 10⁻⁴⁵</a:t>
            </a:r>
            <a:br>
              <a:rPr dirty="0"/>
            </a:br>
            <a:r>
              <a:rPr dirty="0"/>
              <a:t>Decision at α = 0.05: reject H₀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43400"/>
            <a:ext cx="310896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445312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GROUP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782312"/>
            <a:ext cx="28163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rPr dirty="0"/>
              <a:t>Mean alcohol: quality ≤5 = 9.9208%; quality ≥6 = 10.8876%.</a:t>
            </a:r>
            <a:br>
              <a:rPr dirty="0"/>
            </a:br>
            <a:r>
              <a:rPr dirty="0"/>
              <a:t>Welch test: p ≈ 1.80 × 10⁻⁶⁹</a:t>
            </a:r>
            <a:endParaRPr lang="en-US" dirty="0"/>
          </a:p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rPr lang="en-US" dirty="0"/>
              <a:t>Decision at α = 0.05: reject H₀</a:t>
            </a:r>
            <a:endParaRPr dirty="0"/>
          </a:p>
        </p:txBody>
      </p:sp>
      <p:pic>
        <p:nvPicPr>
          <p:cNvPr id="15" name="Picture 14" descr="sample_ci_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417320"/>
            <a:ext cx="3840480" cy="2560320"/>
          </a:xfrm>
          <a:prstGeom prst="rect">
            <a:avLst/>
          </a:prstGeom>
        </p:spPr>
      </p:pic>
      <p:pic>
        <p:nvPicPr>
          <p:cNvPr id="16" name="Picture 15" descr="alcohol_box_by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417320"/>
            <a:ext cx="3566160" cy="25603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886200" y="4824984"/>
            <a:ext cx="758952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32505" y="4934712"/>
            <a:ext cx="7296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SAMPLING AND CLT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2505" y="5263895"/>
            <a:ext cx="729691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Repeated samples fluctuate around the cleaned-data mean. As n increases, the standard error and average CI width generally shrink. CLT describes the sampling distribution of the mean—not the original feature distribution.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6282944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4748B"/>
                </a:solidFill>
                <a:latin typeface="Aptos"/>
              </a:defRPr>
            </a:pPr>
            <a:r>
              <a:t>Sampling method: SRS is a baseline; stratification by quality can preserve rare-score representation. For population estimates, account for stratum proportions.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3 / 6</a:t>
            </a:r>
          </a:p>
        </p:txBody>
      </p:sp>
      <p:sp>
        <p:nvSpPr>
          <p:cNvPr id="40" name="Rounded Rectangle 16">
            <a:extLst>
              <a:ext uri="{FF2B5EF4-FFF2-40B4-BE49-F238E27FC236}">
                <a16:creationId xmlns:a16="http://schemas.microsoft.com/office/drawing/2014/main" id="{909A218E-C9F9-AE47-92D9-6207113C369D}"/>
              </a:ext>
            </a:extLst>
          </p:cNvPr>
          <p:cNvSpPr/>
          <p:nvPr/>
        </p:nvSpPr>
        <p:spPr>
          <a:xfrm>
            <a:off x="530352" y="5687568"/>
            <a:ext cx="2468880" cy="1078992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4F6E7E-D8F0-C9E7-37BA-1B46547F2D6F}"/>
              </a:ext>
            </a:extLst>
          </p:cNvPr>
          <p:cNvSpPr txBox="1"/>
          <p:nvPr/>
        </p:nvSpPr>
        <p:spPr>
          <a:xfrm>
            <a:off x="667512" y="5788152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CORRELATION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2BE263-C21D-C2EE-E6B8-124A6BB78B50}"/>
              </a:ext>
            </a:extLst>
          </p:cNvPr>
          <p:cNvSpPr txBox="1"/>
          <p:nvPr/>
        </p:nvSpPr>
        <p:spPr>
          <a:xfrm>
            <a:off x="667512" y="6053328"/>
            <a:ext cx="219456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r = 0.4803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701859-5F2C-A525-B2C9-0274BE5E645A}"/>
              </a:ext>
            </a:extLst>
          </p:cNvPr>
          <p:cNvSpPr txBox="1"/>
          <p:nvPr/>
        </p:nvSpPr>
        <p:spPr>
          <a:xfrm>
            <a:off x="667512" y="6492240"/>
            <a:ext cx="219456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alcohol vs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03  | 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43B52"/>
                </a:solidFill>
                <a:latin typeface="Aptos"/>
              </a:defRPr>
            </a:pPr>
            <a:r>
              <a:t>Regression baseline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Five-fold shuffled cross-validation • target = numerical quality score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508760"/>
          <a:ext cx="56235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43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MAE ↓</a:t>
                      </a:r>
                    </a:p>
                  </a:txBody>
                  <a:tcPr>
                    <a:solidFill>
                      <a:srgbClr val="243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MSE ↓</a:t>
                      </a:r>
                    </a:p>
                  </a:txBody>
                  <a:tcPr>
                    <a:solidFill>
                      <a:srgbClr val="243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RMSE ↓</a:t>
                      </a:r>
                    </a:p>
                  </a:txBody>
                  <a:tcPr>
                    <a:solidFill>
                      <a:srgbClr val="243B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R² ↑</a:t>
                      </a:r>
                    </a:p>
                  </a:txBody>
                  <a:tcPr>
                    <a:solidFill>
                      <a:srgbClr val="243B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0.5118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0.4417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0.6645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0.3465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0.4931</a:t>
                      </a:r>
                    </a:p>
                  </a:txBody>
                  <a:tcPr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</a:defRPr>
                      </a:pPr>
                      <a:r>
                        <a:t>0.4150</a:t>
                      </a:r>
                    </a:p>
                  </a:txBody>
                  <a:tcPr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0.6440</a:t>
                      </a:r>
                    </a:p>
                  </a:txBody>
                  <a:tcPr>
                    <a:solidFill>
                      <a:srgbClr val="E8F1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937"/>
                          </a:solidFill>
                        </a:defRPr>
                      </a:pPr>
                      <a:r>
                        <a:t>0.3853</a:t>
                      </a:r>
                    </a:p>
                  </a:txBody>
                  <a:tcPr>
                    <a:solidFill>
                      <a:srgbClr val="E8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6" descr="rm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46120"/>
            <a:ext cx="5349240" cy="2423160"/>
          </a:xfrm>
          <a:prstGeom prst="rect">
            <a:avLst/>
          </a:prstGeom>
        </p:spPr>
      </p:pic>
      <p:pic>
        <p:nvPicPr>
          <p:cNvPr id="8" name="Picture 7" descr="r2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246120"/>
            <a:ext cx="5349240" cy="2423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508760"/>
            <a:ext cx="50292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47104" y="1618488"/>
            <a:ext cx="4736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WHY RANDOM FOREST MAY HELP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1947672"/>
            <a:ext cx="4736592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It can capture nonlinear patterns and feature interactions. The result supports better performance on these folds, but does not prove a single cause.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43B52"/>
                </a:solidFill>
                <a:latin typeface="Aptos"/>
              </a:defRPr>
            </a:pPr>
            <a:r>
              <a:t>Interpretation: Random Forest has lower error and higher R² than Linear Regression in the current notebook. R² = 0.3853 is not 38.5% accuracy.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NIT Srinagar  |  Data Analytics Project  |  Red Wine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04  |  INTERPRETATION AND MODEL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43B52"/>
                </a:solidFill>
                <a:latin typeface="Aptos"/>
              </a:defRPr>
            </a:pPr>
            <a:r>
              <a:t>What matters, what remains uncertain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Feature importance is predictive association, not a causal explanation.</a:t>
            </a:r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35608"/>
            <a:ext cx="5577840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463040"/>
            <a:ext cx="52120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55664" y="1572768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CURRENT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1901952"/>
            <a:ext cx="491947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Alcohol has the highest Random Forest feature importance (0.2777), followed by sulphates (0.1392) and volatile acidity (0.1295).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834640"/>
            <a:ext cx="521208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5664" y="2944368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3273552"/>
            <a:ext cx="4919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R² ≈ 0.385 means substantial variation remains unexplained. Observational data cannot establish causality; duplicate removal changes the dataset weighting.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297680"/>
            <a:ext cx="521208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4407408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NEXT MODEL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4736592"/>
            <a:ext cx="4919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Add Ridge, Extra Trees, Gradient Boosting and an MLP neural network. Use the same 5-fold splits and compare MAE, RMSE and R². Report results only after running the extension code.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43B52"/>
                </a:solidFill>
                <a:latin typeface="Aptos"/>
              </a:defRPr>
            </a:pPr>
            <a:r>
              <a:t>For viva: regression uses MAE/RMSE/R². A confusion matrix belongs to a separate classification experiment, e.g. quality ≤5 vs ≥6.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NIT Srinagar  |  Data Analytics Project  |  Red Wine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05  |  CONCLUSION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43B52"/>
                </a:solidFill>
                <a:latin typeface="Aptos"/>
              </a:defRPr>
            </a:pPr>
            <a:r>
              <a:t>Key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A compact summary of the evidence currently available in the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492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527048"/>
            <a:ext cx="5056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1856232"/>
            <a:ext cx="5056631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The cleaned-data mean alcohol content is 10.4323%; its 95% CI is 10.3747%–10.4899%. The mean differs statistically from 10% at α = 0.05.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492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64224" y="1527048"/>
            <a:ext cx="5056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SAMPLING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856232"/>
            <a:ext cx="5056631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Across 30 repetitions, larger sample sizes produced narrower average confidence intervals and more stable sample means.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88920"/>
            <a:ext cx="53492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2898648"/>
            <a:ext cx="5056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3227832"/>
            <a:ext cx="5056631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Random Forest outperformed Linear Regression in the current five-fold CV comparison, but prediction performance remains moderate.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88920"/>
            <a:ext cx="53492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64224" y="2898648"/>
            <a:ext cx="5056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227832"/>
            <a:ext cx="5056631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rPr dirty="0"/>
              <a:t>No causal claim. The primary task is regression; classification metrics should be presented only for a separately defined binary target.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394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3B52"/>
                </a:solidFill>
                <a:latin typeface="Aptos"/>
              </a:defRPr>
            </a:pPr>
            <a:r>
              <a:rPr dirty="0"/>
              <a:t>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681728"/>
            <a:ext cx="10789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ptos"/>
              </a:defRPr>
            </a:pPr>
            <a:br>
              <a:rPr dirty="0"/>
            </a:br>
            <a:r>
              <a:rPr lang="en-US" dirty="0"/>
              <a:t>1</a:t>
            </a:r>
            <a:r>
              <a:rPr dirty="0"/>
              <a:t>. UCI Machine Learning Repository. Wine Quality Dataset. https://archive.ics.uci.edu/dataset/186/wine+quality</a:t>
            </a:r>
            <a:br>
              <a:rPr dirty="0"/>
            </a:br>
            <a:r>
              <a:rPr lang="en-US" dirty="0"/>
              <a:t>2</a:t>
            </a:r>
            <a:r>
              <a:rPr dirty="0"/>
              <a:t>. Khan et al. (2025), “Improved machine learning framework with feature engineering and SHAP analysis for predicting wine quality,” Discover Applied Sciences (verify bibliographic details before submission).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NIT Srinagar  |  Data Analytics Project  |  Red Wine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865</Words>
  <Application>Microsoft Office PowerPoint</Application>
  <PresentationFormat>Widescreen</PresentationFormat>
  <Paragraphs>105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Sahil Madaan</cp:lastModifiedBy>
  <cp:revision>2</cp:revision>
  <dcterms:created xsi:type="dcterms:W3CDTF">2013-01-27T09:14:16Z</dcterms:created>
  <dcterms:modified xsi:type="dcterms:W3CDTF">2026-10-15T15:53:18Z</dcterms:modified>
  <cp:category/>
</cp:coreProperties>
</file>