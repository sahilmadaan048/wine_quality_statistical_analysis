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ptos"/>
              </a:defRPr>
            </a:pPr>
            <a:r>
              <a:t>NATIONAL INSTITUTE OF TECHNOLOGY SRINAGAR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43B52"/>
                </a:solidFill>
                <a:latin typeface="Aptos"/>
              </a:defRPr>
            </a:pPr>
            <a:r>
              <a:t>Statistical Analysis and</a:t>
            </a:r>
            <a:br/>
            <a:r>
              <a:t>Machine Learning-Based Prediction of Wine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748B"/>
                </a:solidFill>
                <a:latin typeface="Aptos"/>
              </a:defRPr>
            </a:pPr>
            <a:r>
              <a:t>Physicochemical properties • statistical inference • sampling • regression and neural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456432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ORIGINAL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1,599 rows</a:t>
            </a:r>
            <a:br/>
            <a:r>
              <a:t>11 predictors +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CLEANED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1,359 unique rows</a:t>
            </a:r>
            <a:br/>
            <a:r>
              <a:t>240 duplicate rows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STATISTICAL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Alcohol mean, CI,</a:t>
            </a:r>
            <a:br/>
            <a:r>
              <a:t>hypothesis tests, sampling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ML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Predict numerical quality</a:t>
            </a:r>
            <a:br/>
            <a:r>
              <a:t>Regression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3B52"/>
                </a:solidFill>
                <a:latin typeface="Aptos"/>
              </a:defRPr>
            </a:pPr>
            <a:r>
              <a:rPr dirty="0"/>
              <a:t>Research question: </a:t>
            </a:r>
            <a:r>
              <a:rPr lang="en-US" sz="1600" b="1" dirty="0">
                <a:solidFill>
                  <a:srgbClr val="243B52"/>
                </a:solidFill>
                <a:latin typeface="Aptos"/>
              </a:rPr>
              <a:t>To what extent can the physicochemical properties of red wine explain variations in quality scores, and how accurately can machine learning models predict these scores?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01  |  DATASET AND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What does the dataset look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UCI Red Wine Quality • 1,599 original rows • 1,359 rows after exact-duplicate removal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017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47672"/>
            <a:ext cx="2724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11 numerical physicochemical predictors; quality is a discrete numerical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017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89864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227832"/>
            <a:ext cx="2724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No missing values. Removed 240 exact duplicate rows; duplicates were not automatically assumed to be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301752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417880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507992"/>
            <a:ext cx="2724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Quality scores cluster around 5–6; rare scores are less represented. This is a discrete target distribution, not proof of normality.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2 / 6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888ACE2F-F2C7-C1C9-AF71-2D8D2F048E74}"/>
              </a:ext>
            </a:extLst>
          </p:cNvPr>
          <p:cNvSpPr/>
          <p:nvPr/>
        </p:nvSpPr>
        <p:spPr>
          <a:xfrm>
            <a:off x="3924301" y="1508758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78FBA7-9065-1F37-888A-B6CCCE337542}"/>
              </a:ext>
            </a:extLst>
          </p:cNvPr>
          <p:cNvSpPr txBox="1"/>
          <p:nvPr/>
        </p:nvSpPr>
        <p:spPr>
          <a:xfrm>
            <a:off x="4061461" y="1609342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D529B9-539B-15F2-54D1-103BD391F6DB}"/>
              </a:ext>
            </a:extLst>
          </p:cNvPr>
          <p:cNvSpPr txBox="1"/>
          <p:nvPr/>
        </p:nvSpPr>
        <p:spPr>
          <a:xfrm>
            <a:off x="4061461" y="1874518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1,599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09658F-B12C-6DF0-F1CD-0EBE91A83B51}"/>
              </a:ext>
            </a:extLst>
          </p:cNvPr>
          <p:cNvSpPr txBox="1"/>
          <p:nvPr/>
        </p:nvSpPr>
        <p:spPr>
          <a:xfrm>
            <a:off x="4061461" y="2285998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9E2D6DB3-B298-3FA9-B377-451D00F048C2}"/>
              </a:ext>
            </a:extLst>
          </p:cNvPr>
          <p:cNvSpPr/>
          <p:nvPr/>
        </p:nvSpPr>
        <p:spPr>
          <a:xfrm>
            <a:off x="3916679" y="272034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70AFF8-A28A-DF09-2A8E-5C89D4AD8217}"/>
              </a:ext>
            </a:extLst>
          </p:cNvPr>
          <p:cNvSpPr txBox="1"/>
          <p:nvPr/>
        </p:nvSpPr>
        <p:spPr>
          <a:xfrm>
            <a:off x="4053838" y="282092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54F0B0-2DBF-4327-6E95-85BA3552553A}"/>
              </a:ext>
            </a:extLst>
          </p:cNvPr>
          <p:cNvSpPr txBox="1"/>
          <p:nvPr/>
        </p:nvSpPr>
        <p:spPr>
          <a:xfrm>
            <a:off x="4053838" y="3086100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2DFB3D-C242-9AA8-55B3-8B43C2D2EA35}"/>
              </a:ext>
            </a:extLst>
          </p:cNvPr>
          <p:cNvSpPr txBox="1"/>
          <p:nvPr/>
        </p:nvSpPr>
        <p:spPr>
          <a:xfrm>
            <a:off x="4053838" y="3497580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11 features + target</a:t>
            </a:r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D0C3FC47-80BC-A966-7415-6FD4367597B0}"/>
              </a:ext>
            </a:extLst>
          </p:cNvPr>
          <p:cNvSpPr/>
          <p:nvPr/>
        </p:nvSpPr>
        <p:spPr>
          <a:xfrm>
            <a:off x="3916679" y="4064509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19C5FF-BEBF-B49A-E9A2-7F7F0B930C4F}"/>
              </a:ext>
            </a:extLst>
          </p:cNvPr>
          <p:cNvSpPr txBox="1"/>
          <p:nvPr/>
        </p:nvSpPr>
        <p:spPr>
          <a:xfrm>
            <a:off x="4053839" y="4165093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F18B66-81EC-27A1-72B2-1EB5E6CD0C6B}"/>
              </a:ext>
            </a:extLst>
          </p:cNvPr>
          <p:cNvSpPr txBox="1"/>
          <p:nvPr/>
        </p:nvSpPr>
        <p:spPr>
          <a:xfrm>
            <a:off x="4053839" y="4430269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96BF7-8F85-DF4A-2E93-6872E7DD0B32}"/>
              </a:ext>
            </a:extLst>
          </p:cNvPr>
          <p:cNvSpPr txBox="1"/>
          <p:nvPr/>
        </p:nvSpPr>
        <p:spPr>
          <a:xfrm>
            <a:off x="4053839" y="4841749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no imputation</a:t>
            </a:r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9EBBCF44-EF3F-BF52-2DAE-78EBB175D947}"/>
              </a:ext>
            </a:extLst>
          </p:cNvPr>
          <p:cNvSpPr/>
          <p:nvPr/>
        </p:nvSpPr>
        <p:spPr>
          <a:xfrm>
            <a:off x="3916679" y="5289805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5E26E5-6742-376E-D208-7D661823B689}"/>
              </a:ext>
            </a:extLst>
          </p:cNvPr>
          <p:cNvSpPr txBox="1"/>
          <p:nvPr/>
        </p:nvSpPr>
        <p:spPr>
          <a:xfrm>
            <a:off x="4053839" y="5390389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FD48D2-409E-679F-3B18-B06F5EA516B4}"/>
              </a:ext>
            </a:extLst>
          </p:cNvPr>
          <p:cNvSpPr txBox="1"/>
          <p:nvPr/>
        </p:nvSpPr>
        <p:spPr>
          <a:xfrm>
            <a:off x="4053839" y="5655565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rPr dirty="0"/>
              <a:t>240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2C84A8-4289-CAAE-4C4F-D6556FF64CFE}"/>
              </a:ext>
            </a:extLst>
          </p:cNvPr>
          <p:cNvSpPr txBox="1"/>
          <p:nvPr/>
        </p:nvSpPr>
        <p:spPr>
          <a:xfrm>
            <a:off x="4053839" y="6067045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exact duplicate rows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E962522-D2B8-E1AC-C61C-D0C2FB9F5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18" y="581525"/>
            <a:ext cx="2471454" cy="154252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E5AFA77-38C0-1CD8-6986-CD653EC1B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372" y="484629"/>
            <a:ext cx="2932336" cy="186080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943F821-1C0D-0944-5895-26CAB9C65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18" y="2748313"/>
            <a:ext cx="5232361" cy="3083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02  |  STATISTICAL INFERENCE AND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Alcohol, hypothesis tests and sample-size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notebook's observed results are shown below; statistical significance does not imply causation.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1089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52704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ALCOHOL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856232"/>
            <a:ext cx="2816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10.4323%</a:t>
            </a:r>
            <a:br/>
            <a:r>
              <a:t>95% CI: 10.3747%–10.4899%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1089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89864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ONE-SAMPLE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227832"/>
            <a:ext cx="281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H₀: μ = 10%</a:t>
            </a:r>
            <a:br>
              <a:rPr dirty="0"/>
            </a:br>
            <a:r>
              <a:rPr dirty="0"/>
              <a:t> t = 14.7284;</a:t>
            </a:r>
            <a:endParaRPr lang="en-US" dirty="0"/>
          </a:p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 p ≈ 1.16 × 10⁻⁴⁵</a:t>
            </a:r>
            <a:br>
              <a:rPr dirty="0"/>
            </a:br>
            <a:r>
              <a:rPr dirty="0"/>
              <a:t>Decision at α = 0.05: reject H₀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31089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445312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GROUP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782312"/>
            <a:ext cx="281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Mean alcohol: quality ≤5 = 9.9208%; quality ≥6 = 10.8876%.</a:t>
            </a:r>
            <a:br>
              <a:rPr dirty="0"/>
            </a:br>
            <a:r>
              <a:rPr dirty="0"/>
              <a:t>Welch test: p ≈ 1.80 × 10⁻⁶⁹</a:t>
            </a:r>
            <a:endParaRPr lang="en-US" dirty="0"/>
          </a:p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lang="en-US" dirty="0"/>
              <a:t>Decision at α = 0.05: reject H₀</a:t>
            </a:r>
            <a:endParaRPr dirty="0"/>
          </a:p>
        </p:txBody>
      </p:sp>
      <p:pic>
        <p:nvPicPr>
          <p:cNvPr id="15" name="Picture 14" descr="sample_ci_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17320"/>
            <a:ext cx="3840480" cy="2560320"/>
          </a:xfrm>
          <a:prstGeom prst="rect">
            <a:avLst/>
          </a:prstGeom>
        </p:spPr>
      </p:pic>
      <p:pic>
        <p:nvPicPr>
          <p:cNvPr id="16" name="Picture 15" descr="alcohol_box_by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417320"/>
            <a:ext cx="3566160" cy="2560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86200" y="4824984"/>
            <a:ext cx="75895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32505" y="4934712"/>
            <a:ext cx="7296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SAMPLING AND CLT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5" y="5263895"/>
            <a:ext cx="72969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Repeated samples fluctuate around the cleaned-data mean. As n increases, the standard error and average CI width generally shrink. CLT describes the sampling distribution of the mean—not the original feature distribution.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628294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</a:defRPr>
            </a:pPr>
            <a:r>
              <a:t>Sampling method: SRS is a baseline; stratification by quality can preserve rare-score representation. For population estimates, account for stratum proportions.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3 / 6</a:t>
            </a:r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909A218E-C9F9-AE47-92D9-6207113C369D}"/>
              </a:ext>
            </a:extLst>
          </p:cNvPr>
          <p:cNvSpPr/>
          <p:nvPr/>
        </p:nvSpPr>
        <p:spPr>
          <a:xfrm>
            <a:off x="530352" y="5687568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4F6E7E-D8F0-C9E7-37BA-1B46547F2D6F}"/>
              </a:ext>
            </a:extLst>
          </p:cNvPr>
          <p:cNvSpPr txBox="1"/>
          <p:nvPr/>
        </p:nvSpPr>
        <p:spPr>
          <a:xfrm>
            <a:off x="667512" y="5788152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2BE263-C21D-C2EE-E6B8-124A6BB78B50}"/>
              </a:ext>
            </a:extLst>
          </p:cNvPr>
          <p:cNvSpPr txBox="1"/>
          <p:nvPr/>
        </p:nvSpPr>
        <p:spPr>
          <a:xfrm>
            <a:off x="667512" y="6053328"/>
            <a:ext cx="219456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r = 0.4803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701859-5F2C-A525-B2C9-0274BE5E645A}"/>
              </a:ext>
            </a:extLst>
          </p:cNvPr>
          <p:cNvSpPr txBox="1"/>
          <p:nvPr/>
        </p:nvSpPr>
        <p:spPr>
          <a:xfrm>
            <a:off x="667512" y="6492240"/>
            <a:ext cx="219456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alcohol vs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03  | 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/>
            </a:pPr>
            <a:r>
              <a:t>Six-model regression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Five-fold shuffled cross-validation • same splits for all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4 / 6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30352" y="1417320"/>
          <a:ext cx="111099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7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73152" marR="54864" marT="13716" marB="13716" anchor="ctr">
                    <a:solidFill>
                      <a:srgbClr val="3045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MAE ↓</a:t>
                      </a:r>
                    </a:p>
                  </a:txBody>
                  <a:tcPr marL="73152" marR="54864" marT="13716" marB="13716" anchor="ctr">
                    <a:solidFill>
                      <a:srgbClr val="3045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RMSE ↓</a:t>
                      </a:r>
                    </a:p>
                  </a:txBody>
                  <a:tcPr marL="73152" marR="54864" marT="13716" marB="13716" anchor="ctr">
                    <a:solidFill>
                      <a:srgbClr val="3045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R² ↑</a:t>
                      </a:r>
                    </a:p>
                  </a:txBody>
                  <a:tcPr marL="73152" marR="54864" marT="13716" marB="13716" anchor="ctr">
                    <a:solidFill>
                      <a:srgbClr val="304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7333F"/>
                          </a:solidFill>
                          <a:latin typeface="Aptos"/>
                        </a:rPr>
                        <a:t>Extra Trees</a:t>
                      </a:r>
                    </a:p>
                  </a:txBody>
                  <a:tcPr marL="73152" marR="54864" marT="13716" marB="13716" anchor="ctr">
                    <a:solidFill>
                      <a:srgbClr val="E2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0.4837 ± 0.0120</a:t>
                      </a:r>
                    </a:p>
                  </a:txBody>
                  <a:tcPr marL="73152" marR="54864" marT="13716" marB="13716" anchor="ctr">
                    <a:solidFill>
                      <a:srgbClr val="E2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0.6391 ± 0.0115</a:t>
                      </a:r>
                    </a:p>
                  </a:txBody>
                  <a:tcPr marL="73152" marR="54864" marT="13716" marB="13716" anchor="ctr">
                    <a:solidFill>
                      <a:srgbClr val="E2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0.3954 ± 0.0317</a:t>
                      </a:r>
                    </a:p>
                  </a:txBody>
                  <a:tcPr marL="73152" marR="54864" marT="13716" marB="13716" anchor="ctr">
                    <a:solidFill>
                      <a:srgbClr val="E2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33F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0.4930 ± 0.0162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0.6442 ± 0.0170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0.3850 ± 0.0488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33F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marL="73152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0.5048 ± 0.0192</a:t>
                      </a:r>
                    </a:p>
                  </a:txBody>
                  <a:tcPr marL="73152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0.6515 ± 0.0225</a:t>
                      </a:r>
                    </a:p>
                  </a:txBody>
                  <a:tcPr marL="73152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0.3709 ± 0.0537</a:t>
                      </a:r>
                    </a:p>
                  </a:txBody>
                  <a:tcPr marL="73152" marR="5486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33F"/>
                          </a:solidFill>
                          <a:latin typeface="Aptos"/>
                        </a:rPr>
                        <a:t>Ridge Regression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0.5118 ± 0.0163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0.6645 ± 0.0113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0.3466 ± 0.0291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7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33F"/>
                          </a:solidFill>
                          <a:latin typeface="Aptos"/>
                        </a:rPr>
                        <a:t>Linear Regression</a:t>
                      </a:r>
                    </a:p>
                  </a:txBody>
                  <a:tcPr marL="73152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0.5118 ± 0.0163</a:t>
                      </a:r>
                    </a:p>
                  </a:txBody>
                  <a:tcPr marL="73152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0.6645 ± 0.0113</a:t>
                      </a:r>
                    </a:p>
                  </a:txBody>
                  <a:tcPr marL="73152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0.3465 ± 0.0291</a:t>
                      </a:r>
                    </a:p>
                  </a:txBody>
                  <a:tcPr marL="73152" marR="5486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79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7333F"/>
                          </a:solidFill>
                          <a:latin typeface="Aptos"/>
                        </a:rPr>
                        <a:t>MLP Neural Network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0.5356 ± 0.0127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7333F"/>
                          </a:solidFill>
                          <a:latin typeface="Aptos"/>
                        </a:rPr>
                        <a:t>0.7028 ± 0.0281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dirty="0">
                          <a:solidFill>
                            <a:srgbClr val="27333F"/>
                          </a:solidFill>
                          <a:latin typeface="Aptos"/>
                        </a:rPr>
                        <a:t>0.2666 ± 0.0839</a:t>
                      </a:r>
                    </a:p>
                  </a:txBody>
                  <a:tcPr marL="73152" marR="54864" marT="13716" marB="13716" anchor="ctr"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6" name="Picture 15" descr="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56432"/>
            <a:ext cx="5440680" cy="2148840"/>
          </a:xfrm>
          <a:prstGeom prst="rect">
            <a:avLst/>
          </a:prstGeom>
        </p:spPr>
      </p:pic>
      <p:pic>
        <p:nvPicPr>
          <p:cNvPr id="17" name="Picture 16" descr="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456432"/>
            <a:ext cx="5440680" cy="2148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574243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04559"/>
                </a:solidFill>
                <a:latin typeface="Aptos"/>
              </a:defRPr>
            </a:pPr>
            <a:r>
              <a:t>Finding: Extra Trees performs best on all three mean metrics (MAE 0.4837, RMSE 0.6391, R² 0.3954). Error bars show fold-to-fold SD; R² = 0.3954 is not 39.54%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04  |  INTERPRETATION AND MODEL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What matters, what remains uncertain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Feature importance is predictive association, not a causal explanation.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35608"/>
            <a:ext cx="557784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463040"/>
            <a:ext cx="5212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57276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CURRENT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1901952"/>
            <a:ext cx="491947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Extra Trees achieved the strongest mean cross-validation results among six models: MAE 0.4837, RMSE 0.6391 and R² 0.3954.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834640"/>
            <a:ext cx="52120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294436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273552"/>
            <a:ext cx="4919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R² ≈ 0.395 means substantial variation remains unexplained. The data are observational, and duplicate removal changes dataset weighting.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97680"/>
            <a:ext cx="52120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440740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MODEL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4736592"/>
            <a:ext cx="4919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Six models were evaluated on the same 5-fold splits. Extra Trees ranked first on MAE, RMSE and R²; MLP performed worst in this baseline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05  |  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Key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A compact summary of the evidence currently available in the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527048"/>
            <a:ext cx="5056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856232"/>
            <a:ext cx="505663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The cleaned-data mean alcohol content is 10.4323%; its 95% CI is 10.3747%–10.4899%. The mean differs statistically from 10% at α = 0.05.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1527048"/>
            <a:ext cx="5056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856232"/>
            <a:ext cx="505663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Across 30 repetitions, larger sample sizes produced narrower average confidence intervals and more stable sample means.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8980" y="2907018"/>
            <a:ext cx="53492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5284" y="3016746"/>
            <a:ext cx="5056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284" y="3345930"/>
            <a:ext cx="505663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Extra Trees performed best among six tested models in five-fold cross-validation (RMSE = 0.6391, R² = 0.3954), but substantial variation remains unexplained.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94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3B52"/>
                </a:solidFill>
                <a:latin typeface="Aptos"/>
              </a:defRPr>
            </a:pPr>
            <a:r>
              <a:rPr dirty="0"/>
              <a:t>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81728"/>
            <a:ext cx="10789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br>
              <a:rPr dirty="0"/>
            </a:br>
            <a:r>
              <a:rPr lang="en-US" dirty="0"/>
              <a:t>1</a:t>
            </a:r>
            <a:r>
              <a:rPr dirty="0"/>
              <a:t>. UCI Machine Learning Repository. Wine Quality Dataset. https://archive.ics.uci.edu/dataset/186/wine+quality</a:t>
            </a:r>
            <a:br>
              <a:rPr dirty="0"/>
            </a:br>
            <a:r>
              <a:rPr lang="en-US" dirty="0"/>
              <a:t>2</a:t>
            </a:r>
            <a:r>
              <a:rPr dirty="0"/>
              <a:t>. Khan et al. (2025), “Improved machine learning framework with feature engineering and SHAP analysis for predicting wine quality,” Discover Applied Sciences (verify bibliographic details before submission).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837</Words>
  <Application>Microsoft Office PowerPoint</Application>
  <PresentationFormat>Widescreen</PresentationFormat>
  <Paragraphs>113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Sahil Madaan</cp:lastModifiedBy>
  <cp:revision>3</cp:revision>
  <dcterms:created xsi:type="dcterms:W3CDTF">2013-01-27T09:14:16Z</dcterms:created>
  <dcterms:modified xsi:type="dcterms:W3CDTF">2026-10-15T17:09:36Z</dcterms:modified>
  <cp:category/>
</cp:coreProperties>
</file>