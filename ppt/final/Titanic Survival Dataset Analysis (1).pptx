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Space Mono"/>
      <p:regular r:id="rId13"/>
      <p:bold r:id="rId14"/>
      <p:italic r:id="rId15"/>
      <p:boldItalic r:id="rId16"/>
    </p:embeddedFont>
    <p:embeddedFont>
      <p:font typeface="DM Sans"/>
      <p:regular r:id="rId17"/>
      <p:bold r:id="rId18"/>
      <p:italic r:id="rId19"/>
      <p:boldItalic r:id="rId20"/>
    </p:embeddedFont>
    <p:embeddedFont>
      <p:font typeface="Space Grotesk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49CF72-9652-4734-9662-27AB9711BF24}">
  <a:tblStyle styleId="{F849CF72-9652-4734-9662-27AB9711BF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Italic.fntdata"/><Relationship Id="rId11" Type="http://schemas.openxmlformats.org/officeDocument/2006/relationships/slide" Target="slides/slide5.xml"/><Relationship Id="rId22" Type="http://schemas.openxmlformats.org/officeDocument/2006/relationships/font" Target="fonts/SpaceGrotesk-bold.fntdata"/><Relationship Id="rId10" Type="http://schemas.openxmlformats.org/officeDocument/2006/relationships/slide" Target="slides/slide4.xml"/><Relationship Id="rId21" Type="http://schemas.openxmlformats.org/officeDocument/2006/relationships/font" Target="fonts/SpaceGrotesk-regular.fntdata"/><Relationship Id="rId13" Type="http://schemas.openxmlformats.org/officeDocument/2006/relationships/font" Target="fonts/SpaceMono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SpaceMono-italic.fntdata"/><Relationship Id="rId14" Type="http://schemas.openxmlformats.org/officeDocument/2006/relationships/font" Target="fonts/SpaceMono-bold.fntdata"/><Relationship Id="rId17" Type="http://schemas.openxmlformats.org/officeDocument/2006/relationships/font" Target="fonts/DMSans-regular.fntdata"/><Relationship Id="rId16" Type="http://schemas.openxmlformats.org/officeDocument/2006/relationships/font" Target="fonts/SpaceMono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DMSans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DM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5352901"/>
            <a:ext cx="10820400" cy="971550"/>
          </a:xfrm>
          <a:prstGeom prst="roundRect">
            <a:avLst>
              <a:gd fmla="val 11764" name="adj"/>
            </a:avLst>
          </a:prstGeom>
          <a:solidFill>
            <a:srgbClr val="2925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" y="3942308"/>
            <a:ext cx="6096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5800" y="533400"/>
            <a:ext cx="3867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A580C"/>
                </a:solidFill>
                <a:latin typeface="Space Mono"/>
                <a:ea typeface="Space Mono"/>
                <a:cs typeface="Space Mono"/>
                <a:sym typeface="Space Mono"/>
              </a:rPr>
              <a:t>STATISTICAL DATA ANALYSIS ASSIGNMENT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8763000" y="533400"/>
            <a:ext cx="2838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Space Mono"/>
                <a:ea typeface="Space Mono"/>
                <a:cs typeface="Space Mono"/>
                <a:sym typeface="Space Mono"/>
              </a:rPr>
              <a:t>KAGGLE TITANIC DATASET (N = 891)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85800" y="2105917"/>
            <a:ext cx="109156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A580C"/>
                </a:solidFill>
                <a:latin typeface="Space Mono"/>
                <a:ea typeface="Space Mono"/>
                <a:cs typeface="Space Mono"/>
                <a:sym typeface="Space Mono"/>
              </a:rPr>
              <a:t>DESCRIPTIVE &amp; INFERENTIAL STUDY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85800" y="2420242"/>
            <a:ext cx="11506200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AFAF9"/>
                </a:solidFill>
                <a:latin typeface="Space Grotesk"/>
                <a:ea typeface="Space Grotesk"/>
                <a:cs typeface="Space Grotesk"/>
                <a:sym typeface="Space Grotesk"/>
              </a:rPr>
              <a:t>Titanic Survival Dataset Analysis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85800" y="3180308"/>
            <a:ext cx="7524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6D3D1"/>
                </a:solidFill>
                <a:latin typeface="DM Sans"/>
                <a:ea typeface="DM Sans"/>
                <a:cs typeface="DM Sans"/>
                <a:sym typeface="DM Sans"/>
              </a:rPr>
              <a:t>Core descriptive statistics, visual distributions, formal hypothesis testing, sample size comparisons, and literature model benchmarks.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90600" y="5581501"/>
            <a:ext cx="2838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Space Mono"/>
                <a:ea typeface="Space Mono"/>
                <a:cs typeface="Space Mono"/>
                <a:sym typeface="Space Mono"/>
              </a:rPr>
              <a:t>SUBMITTED BY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90600" y="5819626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FAF9"/>
                </a:solidFill>
                <a:latin typeface="DM Sans"/>
                <a:ea typeface="DM Sans"/>
                <a:cs typeface="DM Sans"/>
                <a:sym typeface="DM Sans"/>
              </a:rPr>
              <a:t>AKASH SINGH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038600" y="5581501"/>
            <a:ext cx="2838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Space Mono"/>
                <a:ea typeface="Space Mono"/>
                <a:cs typeface="Space Mono"/>
                <a:sym typeface="Space Mono"/>
              </a:rPr>
              <a:t>ENROLLMENT NO.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038600" y="5819626"/>
            <a:ext cx="342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Space Mono"/>
                <a:ea typeface="Space Mono"/>
                <a:cs typeface="Space Mono"/>
                <a:sym typeface="Space Mono"/>
              </a:rPr>
              <a:t>2023BCSE040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086600" y="5581501"/>
            <a:ext cx="4210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Space Mono"/>
                <a:ea typeface="Space Mono"/>
                <a:cs typeface="Space Mono"/>
                <a:sym typeface="Space Mono"/>
              </a:rPr>
              <a:t>DEPARTMENT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086600" y="5819626"/>
            <a:ext cx="5105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FAF9"/>
                </a:solidFill>
                <a:latin typeface="DM Sans"/>
                <a:ea typeface="DM Sans"/>
                <a:cs typeface="DM Sans"/>
                <a:sym typeface="DM Sans"/>
              </a:rPr>
              <a:t>Computer Science &amp;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5295900"/>
            <a:ext cx="3505200" cy="1104900"/>
          </a:xfrm>
          <a:prstGeom prst="roundRect">
            <a:avLst>
              <a:gd fmla="val 8620" name="adj"/>
            </a:avLst>
          </a:prstGeom>
          <a:solidFill>
            <a:srgbClr val="F5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43400" y="5295900"/>
            <a:ext cx="3505200" cy="1104900"/>
          </a:xfrm>
          <a:prstGeom prst="roundRect">
            <a:avLst>
              <a:gd fmla="val 8620" name="adj"/>
            </a:avLst>
          </a:prstGeom>
          <a:solidFill>
            <a:srgbClr val="F5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77200" y="5295900"/>
            <a:ext cx="3505200" cy="1104900"/>
          </a:xfrm>
          <a:prstGeom prst="roundRect">
            <a:avLst>
              <a:gd fmla="val 8620" name="adj"/>
            </a:avLst>
          </a:prstGeom>
          <a:solidFill>
            <a:srgbClr val="F5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4" name="Google Shape;104;p14"/>
          <p:cNvGraphicFramePr/>
          <p:nvPr/>
        </p:nvGraphicFramePr>
        <p:xfrm>
          <a:off x="609600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{F849CF72-9652-4734-9662-27AB9711BF24}</a:tableStyleId>
              </a:tblPr>
              <a:tblGrid>
                <a:gridCol w="3030575"/>
                <a:gridCol w="2557025"/>
                <a:gridCol w="2705850"/>
                <a:gridCol w="2679350"/>
              </a:tblGrid>
              <a:tr h="5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Statistical Measure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Passenger Fare (£)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Passenger Age (Yrs)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Survival Target (0/1)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Valid Sample Size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891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714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891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Mean (Average)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£32.20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29.70 yrs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0.384 (38.4%)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Median (Middle Value)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£14.45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28.00 yrs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0.00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Variance (s²)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2,469.44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211.02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0.237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Standard Deviation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£49.69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14.53 yrs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0.486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2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Min / Max 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£0.00 – £512.33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0.42 – 80.0 yrs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0 –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05;p14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410C"/>
                </a:solidFill>
                <a:latin typeface="Space Mono"/>
                <a:ea typeface="Space Mono"/>
                <a:cs typeface="Space Mono"/>
                <a:sym typeface="Space Mono"/>
              </a:rPr>
              <a:t>01 / DATASET &amp; DESCRIPTIVE METRICS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Statistical Summary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" y="548640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High Fare Spread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8200" y="575310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Standard deviation (£49.69) exceeds mean (£32.20).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572000" y="5486400"/>
            <a:ext cx="4000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Adult Passenger Profile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572000" y="575310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Average passenger age centered near 30 years.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05800" y="5486400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Overall Survival Rate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05800" y="5753100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Only 342 of 891 passengers survived (38.4%).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-381000" y="6172200"/>
            <a:ext cx="1295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Visual patterns show strong survival advantages for females, upper classes, and higher-fare passengers.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410C"/>
                </a:solidFill>
                <a:latin typeface="Space Mono"/>
                <a:ea typeface="Space Mono"/>
                <a:cs typeface="Space Mono"/>
                <a:sym typeface="Space Mono"/>
              </a:rPr>
              <a:t>02 / DATA DISTRIBUTIONS &amp; PLOTS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Visual Distributions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825" y="1171575"/>
            <a:ext cx="7420812" cy="494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609600" y="5524500"/>
            <a:ext cx="5372100" cy="876300"/>
          </a:xfrm>
          <a:prstGeom prst="roundRect">
            <a:avLst>
              <a:gd fmla="val 10869" name="adj"/>
            </a:avLst>
          </a:prstGeom>
          <a:solidFill>
            <a:srgbClr val="F5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210300" y="5524500"/>
            <a:ext cx="5372100" cy="876300"/>
          </a:xfrm>
          <a:prstGeom prst="roundRect">
            <a:avLst>
              <a:gd fmla="val 10869" name="adj"/>
            </a:avLst>
          </a:prstGeom>
          <a:solidFill>
            <a:srgbClr val="F5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7" name="Google Shape;127;p16"/>
          <p:cNvGraphicFramePr/>
          <p:nvPr/>
        </p:nvGraphicFramePr>
        <p:xfrm>
          <a:off x="609600" y="19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{F849CF72-9652-4734-9662-27AB9711BF24}</a:tableStyleId>
              </a:tblPr>
              <a:tblGrid>
                <a:gridCol w="2483950"/>
                <a:gridCol w="2958250"/>
                <a:gridCol w="1589775"/>
                <a:gridCol w="1467750"/>
                <a:gridCol w="2473075"/>
              </a:tblGrid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Statistical 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Null Hypothesis (H0)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Test Statistic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p-value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Conclusion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Two-Proportion z-Test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Equal survival by Gender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z = 16.29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p &lt; 0.0001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Reject H0 (Significant)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Chi-Square Test (χ²)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Class &amp; survival independent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χ² = 102.89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p &lt; 0.0001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Reject H0 (Significant)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Welch's t-Test (Fare)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Equal mean Fare by 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t = -7.58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p &lt; 0.0001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Reject H0 (Significant)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5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t-Test (Age)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Equal mean Age by 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t = 2.06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p = 0.0396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Reject H0 (Significant)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16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410C"/>
                </a:solidFill>
                <a:latin typeface="Space Mono"/>
                <a:ea typeface="Space Mono"/>
                <a:cs typeface="Space Mono"/>
                <a:sym typeface="Space Mono"/>
              </a:rPr>
              <a:t>03 / STATISTICAL INFERENCE &amp; HYPOTHESIS TESTS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Space Grotesk"/>
                <a:ea typeface="Space Grotesk"/>
                <a:cs typeface="Space Grotesk"/>
                <a:sym typeface="Space Grotesk"/>
              </a:rPr>
              <a:t>Hypothesis Testing Results (α = 0.05)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38200" y="5715000"/>
            <a:ext cx="64508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Gender Effect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38200" y="5981700"/>
            <a:ext cx="614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Strongest statistical signal across all variables.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438900" y="5715000"/>
            <a:ext cx="575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Ticket Class &amp; Wealth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438900" y="5981700"/>
            <a:ext cx="575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Survivors paid £48.40 mean fare vs £22.12 for deceased.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609600" y="5867400"/>
            <a:ext cx="10972800" cy="533400"/>
          </a:xfrm>
          <a:prstGeom prst="roundRect">
            <a:avLst>
              <a:gd fmla="val 17857" name="adj"/>
            </a:avLst>
          </a:prstGeom>
          <a:solidFill>
            <a:srgbClr val="F5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685657" y="1881187"/>
            <a:ext cx="4896742" cy="3238500"/>
          </a:xfrm>
          <a:prstGeom prst="roundRect">
            <a:avLst>
              <a:gd fmla="val 3529" name="adj"/>
            </a:avLst>
          </a:prstGeom>
          <a:solidFill>
            <a:srgbClr val="F5F5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4257" y="2662237"/>
            <a:ext cx="4439542" cy="2000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17"/>
          <p:cNvGraphicFramePr/>
          <p:nvPr/>
        </p:nvGraphicFramePr>
        <p:xfrm>
          <a:off x="609600" y="2052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{F849CF72-9652-4734-9662-27AB9711BF24}</a:tableStyleId>
              </a:tblPr>
              <a:tblGrid>
                <a:gridCol w="1196875"/>
                <a:gridCol w="1143450"/>
                <a:gridCol w="1175600"/>
                <a:gridCol w="1058025"/>
                <a:gridCol w="1197325"/>
              </a:tblGrid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Sample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Fare Mean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Fare SD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Std. 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z-Statistic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n = 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£30.85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£46.20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£7.03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3.86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n = 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£31.50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£48.10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£4.97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5.46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n = 250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£31.95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£49.15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2410C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£3.14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8.64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n = 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£32.12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£49.50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£2.22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12.21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n = 891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£32.20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C1917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£49.69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£1.66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D9488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16.29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9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17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410C"/>
                </a:solidFill>
                <a:latin typeface="Space Mono"/>
                <a:ea typeface="Space Mono"/>
                <a:cs typeface="Space Mono"/>
                <a:sym typeface="Space Mono"/>
              </a:rPr>
              <a:t>04 / MULTI-SAMPLE EXPERIMENT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1917"/>
                </a:solidFill>
                <a:latin typeface="Space Grotesk"/>
                <a:ea typeface="Space Grotesk"/>
                <a:cs typeface="Space Grotesk"/>
                <a:sym typeface="Space Grotesk"/>
              </a:rPr>
              <a:t>Effect of Sample Size on Statistical Measures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38200" y="6019800"/>
            <a:ext cx="1135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b="0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 Increasing sample size from 50 to 891 reduces standard error by </a:t>
            </a:r>
            <a:r>
              <a:rPr b="1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76%</a:t>
            </a:r>
            <a:r>
              <a:rPr b="0" i="0" lang="en-US" sz="135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 and stabilizes mean and variance estimates.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914257" y="2109787"/>
            <a:ext cx="527774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DM Sans"/>
                <a:ea typeface="DM Sans"/>
                <a:cs typeface="DM Sans"/>
                <a:sym typeface="DM Sans"/>
              </a:rPr>
              <a:t>Standard Error Drop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914257" y="2357437"/>
            <a:ext cx="527774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78716C"/>
                </a:solidFill>
                <a:latin typeface="DM Sans"/>
                <a:ea typeface="DM Sans"/>
                <a:cs typeface="DM Sans"/>
                <a:sym typeface="DM Sans"/>
              </a:rPr>
              <a:t>SE = s / √n decreases as sample grows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914257" y="4719637"/>
            <a:ext cx="1123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n=50 (£7.03)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672066" y="4719637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7534E"/>
                </a:solidFill>
                <a:latin typeface="DM Sans"/>
                <a:ea typeface="DM Sans"/>
                <a:cs typeface="DM Sans"/>
                <a:sym typeface="DM Sans"/>
              </a:rPr>
              <a:t>n=250 (£3.14)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487025" y="4719637"/>
            <a:ext cx="11525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DM Sans"/>
                <a:ea typeface="DM Sans"/>
                <a:cs typeface="DM Sans"/>
                <a:sym typeface="DM Sans"/>
              </a:rPr>
              <a:t>n=891 (£1.66)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609600" y="3686175"/>
            <a:ext cx="10972800" cy="1123950"/>
          </a:xfrm>
          <a:prstGeom prst="roundRect">
            <a:avLst>
              <a:gd fmla="val 10169" name="adj"/>
            </a:avLst>
          </a:prstGeom>
          <a:solidFill>
            <a:srgbClr val="2925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09600" y="5353050"/>
            <a:ext cx="109728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09600" y="1676400"/>
            <a:ext cx="5372100" cy="1466850"/>
          </a:xfrm>
          <a:prstGeom prst="roundRect">
            <a:avLst>
              <a:gd fmla="val 7792" name="adj"/>
            </a:avLst>
          </a:prstGeom>
          <a:solidFill>
            <a:srgbClr val="2925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210300" y="1790700"/>
            <a:ext cx="5372100" cy="1238250"/>
          </a:xfrm>
          <a:prstGeom prst="roundRect">
            <a:avLst>
              <a:gd fmla="val 9230" name="adj"/>
            </a:avLst>
          </a:prstGeom>
          <a:solidFill>
            <a:srgbClr val="2925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609600" y="5353050"/>
            <a:ext cx="10972800" cy="9525"/>
          </a:xfrm>
          <a:prstGeom prst="rect">
            <a:avLst/>
          </a:prstGeom>
          <a:solidFill>
            <a:srgbClr val="4440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09600" y="4572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A580C"/>
                </a:solidFill>
                <a:latin typeface="Space Mono"/>
                <a:ea typeface="Space Mono"/>
                <a:cs typeface="Space Mono"/>
                <a:sym typeface="Space Mono"/>
              </a:rPr>
              <a:t>05 / LITERATURE MODELS, CONCLUSION &amp; REFERENCES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09600" y="69532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AFAF9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Suggestions, Summary &amp; References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38200" y="3876675"/>
            <a:ext cx="11353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AFAF9"/>
                </a:solidFill>
                <a:latin typeface="DM Sans"/>
                <a:ea typeface="DM Sans"/>
                <a:cs typeface="DM Sans"/>
                <a:sym typeface="DM Sans"/>
              </a:rPr>
              <a:t>Conclusion Summary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38200" y="4162425"/>
            <a:ext cx="1061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6D3D1"/>
                </a:solidFill>
                <a:latin typeface="DM Sans"/>
                <a:ea typeface="DM Sans"/>
                <a:cs typeface="DM Sans"/>
                <a:sym typeface="DM Sans"/>
              </a:rPr>
              <a:t>Descriptive metrics, visual distributions, and hypothesis tests confirm survival depended heavily on Gender (z = 16.29) and Ticket Class (χ² = 102.89), while larger sample sizes ensured high precision.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09600" y="5495925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8A29E"/>
                </a:solidFill>
                <a:latin typeface="Space Mono"/>
                <a:ea typeface="Space Mono"/>
                <a:cs typeface="Space Mono"/>
                <a:sym typeface="Space Mono"/>
              </a:rPr>
              <a:t>ACADEMIC REFERENCES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38200" y="1905000"/>
            <a:ext cx="645080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DM Sans"/>
                <a:ea typeface="DM Sans"/>
                <a:cs typeface="DM Sans"/>
                <a:sym typeface="DM Sans"/>
              </a:rPr>
              <a:t>Literature Consensus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38200" y="2228850"/>
            <a:ext cx="50101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7E5E4"/>
                </a:solidFill>
                <a:latin typeface="DM Sans"/>
                <a:ea typeface="DM Sans"/>
                <a:cs typeface="DM Sans"/>
                <a:sym typeface="DM Sans"/>
              </a:rPr>
              <a:t>Research papers report </a:t>
            </a:r>
            <a:r>
              <a:rPr b="1" i="0" lang="en-US" sz="1350" u="none" cap="none" strike="noStrike">
                <a:solidFill>
                  <a:srgbClr val="E7E5E4"/>
                </a:solidFill>
                <a:latin typeface="DM Sans"/>
                <a:ea typeface="DM Sans"/>
                <a:cs typeface="DM Sans"/>
                <a:sym typeface="DM Sans"/>
              </a:rPr>
              <a:t>XGBoost (83–85%)</a:t>
            </a:r>
            <a:r>
              <a:rPr b="0" i="0" lang="en-US" sz="1350" u="none" cap="none" strike="noStrike">
                <a:solidFill>
                  <a:srgbClr val="E7E5E4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b="1" i="0" lang="en-US" sz="1350" u="none" cap="none" strike="noStrike">
                <a:solidFill>
                  <a:srgbClr val="E7E5E4"/>
                </a:solidFill>
                <a:latin typeface="DM Sans"/>
                <a:ea typeface="DM Sans"/>
                <a:cs typeface="DM Sans"/>
                <a:sym typeface="DM Sans"/>
              </a:rPr>
              <a:t>Random Forest (82–84%)</a:t>
            </a:r>
            <a:r>
              <a:rPr b="0" i="0" lang="en-US" sz="1350" u="none" cap="none" strike="noStrike">
                <a:solidFill>
                  <a:srgbClr val="E7E5E4"/>
                </a:solidFill>
                <a:latin typeface="DM Sans"/>
                <a:ea typeface="DM Sans"/>
                <a:cs typeface="DM Sans"/>
                <a:sym typeface="DM Sans"/>
              </a:rPr>
              <a:t> achieve top accuracy over Logistic Regression (79%).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438900" y="2019300"/>
            <a:ext cx="5753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DM Sans"/>
                <a:ea typeface="DM Sans"/>
                <a:cs typeface="DM Sans"/>
                <a:sym typeface="DM Sans"/>
              </a:rPr>
              <a:t>Best Model Per Our Analysis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438900" y="2343150"/>
            <a:ext cx="5010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7E5E4"/>
                </a:solidFill>
                <a:latin typeface="DM Sans"/>
                <a:ea typeface="DM Sans"/>
                <a:cs typeface="DM Sans"/>
                <a:sym typeface="DM Sans"/>
              </a:rPr>
              <a:t>Random Forest (depth 4–6)</a:t>
            </a:r>
            <a:r>
              <a:rPr b="0" i="0" lang="en-US" sz="1350" u="none" cap="none" strike="noStrike">
                <a:solidFill>
                  <a:srgbClr val="E7E5E4"/>
                </a:solidFill>
                <a:latin typeface="DM Sans"/>
                <a:ea typeface="DM Sans"/>
                <a:cs typeface="DM Sans"/>
                <a:sym typeface="DM Sans"/>
              </a:rPr>
              <a:t> is ideal for N = 891: captures Gender and Class splits without overfitting skewed fares.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09600" y="57531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6D3D1"/>
                </a:solidFill>
                <a:latin typeface="DM Sans"/>
                <a:ea typeface="DM Sans"/>
                <a:cs typeface="DM Sans"/>
                <a:sym typeface="DM Sans"/>
              </a:rPr>
              <a:t>1. Frey, B. S., Savage, D. A., &amp; Torgler, B. (2011). Behavior under extreme conditions: The Titanic disaster. JEP, 25(1).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09600" y="59817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6D3D1"/>
                </a:solidFill>
                <a:latin typeface="DM Sans"/>
                <a:ea typeface="DM Sans"/>
                <a:cs typeface="DM Sans"/>
                <a:sym typeface="DM Sans"/>
              </a:rPr>
              <a:t>2. Huang, S. (2024). Comparison of GBoost, XGBoost, and Random Forest in Titanic Survival Prediction. ACE, 102.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09600" y="6210300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6D3D1"/>
                </a:solidFill>
                <a:latin typeface="DM Sans"/>
                <a:ea typeface="DM Sans"/>
                <a:cs typeface="DM Sans"/>
                <a:sym typeface="DM Sans"/>
              </a:rPr>
              <a:t>3. Breiman, L. (2001). Random Forests. Machine Learning, 45(1), 5–32.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