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70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115568"/>
            <a:ext cx="98755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5698B"/>
                </a:solidFill>
                <a:latin typeface="Aptos"/>
              </a:rPr>
              <a:t>DATA ANALYTICS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673352"/>
            <a:ext cx="10332720" cy="1417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3752"/>
                </a:solidFill>
                <a:latin typeface="Aptos"/>
              </a:rPr>
              <a:t>Statistical Risk Analysis
&amp; Machine Learning for Credit Card Default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3401568"/>
            <a:ext cx="93268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566472"/>
                </a:solidFill>
                <a:latin typeface="Aptos"/>
              </a:rPr>
              <a:t>UCI Default of Credit Card Clients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4617720"/>
            <a:ext cx="32461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5698B"/>
                </a:solidFill>
                <a:latin typeface="Aptos"/>
              </a:rPr>
              <a:t>STATISTICS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937760"/>
            <a:ext cx="324612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32A31"/>
                </a:solidFill>
                <a:latin typeface="Aptos"/>
              </a:rPr>
              <a:t>Descriptive analysis, confidence intervals &amp; hypothesis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3984" y="4617720"/>
            <a:ext cx="32461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5698B"/>
                </a:solidFill>
                <a:latin typeface="Aptos"/>
              </a:rPr>
              <a:t>SAMPLING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984" y="4937760"/>
            <a:ext cx="324612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32A31"/>
                </a:solidFill>
                <a:latin typeface="Aptos"/>
              </a:rPr>
              <a:t>How sample size changes estimation 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1583" y="4617720"/>
            <a:ext cx="32461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5698B"/>
                </a:solidFill>
                <a:latin typeface="Aptos"/>
              </a:rPr>
              <a:t>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1583" y="4937760"/>
            <a:ext cx="324612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32A31"/>
                </a:solidFill>
                <a:latin typeface="Aptos"/>
              </a:rPr>
              <a:t>Four classifiers evaluated on imbalanced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6236208"/>
            <a:ext cx="96926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 dirty="0">
                <a:solidFill>
                  <a:srgbClr val="646E78"/>
                </a:solidFill>
                <a:latin typeface="Aptos"/>
              </a:rPr>
              <a:t>A combined statistical and predictive study of next-month default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510528"/>
            <a:ext cx="54864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6E78"/>
                </a:solidFill>
                <a:latin typeface="Aptos"/>
              </a:rPr>
              <a:t>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F3752"/>
                </a:solidFill>
                <a:latin typeface="Aptos"/>
              </a:rPr>
              <a:t>Dataset &amp; analysis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786384"/>
            <a:ext cx="11109960" cy="22860"/>
          </a:xfrm>
          <a:prstGeom prst="rect">
            <a:avLst/>
          </a:prstGeom>
          <a:solidFill>
            <a:srgbClr val="E5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6510528"/>
            <a:ext cx="54864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6E78"/>
                </a:solidFill>
                <a:latin typeface="Aptos"/>
              </a:rPr>
              <a:t>2/6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51560"/>
            <a:ext cx="3246120" cy="1417320"/>
          </a:xfrm>
          <a:prstGeom prst="roundRect">
            <a:avLst/>
          </a:prstGeom>
          <a:solidFill>
            <a:srgbClr val="F1F4F7"/>
          </a:solidFill>
          <a:ln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0664" y="1161288"/>
            <a:ext cx="295351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3752"/>
                </a:solidFill>
                <a:latin typeface="Aptos"/>
              </a:rP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1490472"/>
            <a:ext cx="2953512" cy="8869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 dirty="0">
                <a:solidFill>
                  <a:srgbClr val="232A31"/>
                </a:solidFill>
                <a:latin typeface="Aptos"/>
              </a:rPr>
              <a:t>UCI credit-card default records
29,965 observations after duplicate removal
Binary target: Default = 0 /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33087" y="1051560"/>
            <a:ext cx="3246120" cy="1417320"/>
          </a:xfrm>
          <a:prstGeom prst="roundRect">
            <a:avLst/>
          </a:prstGeom>
          <a:solidFill>
            <a:srgbClr val="F1F4F7"/>
          </a:solidFill>
          <a:ln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79392" y="1161288"/>
            <a:ext cx="295351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3752"/>
                </a:solidFill>
                <a:latin typeface="Aptos"/>
              </a:rPr>
              <a:t>PREDICTORS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9392" y="1490472"/>
            <a:ext cx="2953512" cy="8869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232A31"/>
                </a:solidFill>
                <a:latin typeface="Aptos"/>
              </a:rPr>
              <a:t>9 selected variables
Credit limit, age, repayment status,
bill amounts and payment amounts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71816" y="1051560"/>
            <a:ext cx="3886200" cy="1417320"/>
          </a:xfrm>
          <a:prstGeom prst="roundRect">
            <a:avLst/>
          </a:prstGeom>
          <a:solidFill>
            <a:srgbClr val="F1F4F7"/>
          </a:solidFill>
          <a:ln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18120" y="1161288"/>
            <a:ext cx="359359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3752"/>
                </a:solidFill>
                <a:latin typeface="Aptos"/>
              </a:rPr>
              <a:t>CLASS IMBALANCE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1490472"/>
            <a:ext cx="3593592" cy="8869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232A31"/>
                </a:solidFill>
                <a:latin typeface="Aptos"/>
              </a:rPr>
              <a:t>Default rate ≈ 22% in repeated samples
Non-default is the majority class
Accuracy alone can be misleading</a:t>
            </a:r>
          </a:p>
        </p:txBody>
      </p:sp>
      <p:sp>
        <p:nvSpPr>
          <p:cNvPr id="14" name="Oval 13"/>
          <p:cNvSpPr/>
          <p:nvPr/>
        </p:nvSpPr>
        <p:spPr>
          <a:xfrm>
            <a:off x="1316736" y="3319272"/>
            <a:ext cx="384048" cy="384048"/>
          </a:xfrm>
          <a:prstGeom prst="ellipse">
            <a:avLst/>
          </a:prstGeom>
          <a:solidFill>
            <a:srgbClr val="1F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16736" y="3364992"/>
            <a:ext cx="38404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822191"/>
            <a:ext cx="171907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F3752"/>
                </a:solidFill>
                <a:latin typeface="Aptos"/>
              </a:rPr>
              <a:t>Clean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187952"/>
            <a:ext cx="1901952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66472"/>
                </a:solidFill>
                <a:latin typeface="Aptos"/>
              </a:rPr>
              <a:t>Remove ID / duplicates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773936" y="3511296"/>
            <a:ext cx="1097279" cy="0"/>
          </a:xfrm>
          <a:prstGeom prst="line">
            <a:avLst/>
          </a:prstGeom>
          <a:ln w="19050">
            <a:solidFill>
              <a:srgbClr val="7189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621024" y="3319272"/>
            <a:ext cx="384048" cy="384048"/>
          </a:xfrm>
          <a:prstGeom prst="ellipse">
            <a:avLst/>
          </a:prstGeom>
          <a:solidFill>
            <a:srgbClr val="1F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21024" y="3364992"/>
            <a:ext cx="38404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62656" y="3822191"/>
            <a:ext cx="171907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F3752"/>
                </a:solidFill>
                <a:latin typeface="Aptos"/>
              </a:rPr>
              <a:t>Describe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71216" y="4187952"/>
            <a:ext cx="1901952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66472"/>
                </a:solidFill>
                <a:latin typeface="Aptos"/>
              </a:rPr>
              <a:t>Means, SD, SE, 95% CI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78224" y="3511296"/>
            <a:ext cx="1097280" cy="0"/>
          </a:xfrm>
          <a:prstGeom prst="line">
            <a:avLst/>
          </a:prstGeom>
          <a:ln w="19050">
            <a:solidFill>
              <a:srgbClr val="7189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925312" y="3319272"/>
            <a:ext cx="384048" cy="384048"/>
          </a:xfrm>
          <a:prstGeom prst="ellipse">
            <a:avLst/>
          </a:prstGeom>
          <a:solidFill>
            <a:srgbClr val="1F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25312" y="3364992"/>
            <a:ext cx="38404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66944" y="3822191"/>
            <a:ext cx="171907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F3752"/>
                </a:solidFill>
                <a:latin typeface="Aptos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75504" y="4187952"/>
            <a:ext cx="1901952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66472"/>
                </a:solidFill>
                <a:latin typeface="Aptos"/>
              </a:rPr>
              <a:t>Welch t-tests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382512" y="3511296"/>
            <a:ext cx="1097280" cy="0"/>
          </a:xfrm>
          <a:prstGeom prst="line">
            <a:avLst/>
          </a:prstGeom>
          <a:ln w="19050">
            <a:solidFill>
              <a:srgbClr val="7189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229600" y="3319272"/>
            <a:ext cx="384048" cy="384048"/>
          </a:xfrm>
          <a:prstGeom prst="ellipse">
            <a:avLst/>
          </a:prstGeom>
          <a:solidFill>
            <a:srgbClr val="1F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0" y="3364992"/>
            <a:ext cx="38404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71232" y="3822191"/>
            <a:ext cx="171907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F3752"/>
                </a:solidFill>
                <a:latin typeface="Aptos"/>
              </a:rPr>
              <a:t>Sample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4187952"/>
            <a:ext cx="1901952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66472"/>
                </a:solidFill>
                <a:latin typeface="Aptos"/>
              </a:rPr>
              <a:t>n = 100, 250, 500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686800" y="3511296"/>
            <a:ext cx="1097280" cy="0"/>
          </a:xfrm>
          <a:prstGeom prst="line">
            <a:avLst/>
          </a:prstGeom>
          <a:ln w="19050">
            <a:solidFill>
              <a:srgbClr val="7189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0533888" y="3319272"/>
            <a:ext cx="384048" cy="384048"/>
          </a:xfrm>
          <a:prstGeom prst="ellipse">
            <a:avLst/>
          </a:prstGeom>
          <a:solidFill>
            <a:srgbClr val="1F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533888" y="3364992"/>
            <a:ext cx="38404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3822191"/>
            <a:ext cx="171907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F3752"/>
                </a:solidFill>
                <a:latin typeface="Aptos"/>
              </a:rPr>
              <a:t>Predict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4187952"/>
            <a:ext cx="1901952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566472"/>
                </a:solidFill>
                <a:latin typeface="Aptos"/>
              </a:rPr>
              <a:t>4 models + 5-fold CV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9E719A-A96B-8838-1B04-75638151259C}"/>
              </a:ext>
            </a:extLst>
          </p:cNvPr>
          <p:cNvSpPr txBox="1"/>
          <p:nvPr/>
        </p:nvSpPr>
        <p:spPr>
          <a:xfrm>
            <a:off x="362682" y="4943855"/>
            <a:ext cx="9137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232A31"/>
                </a:solidFill>
                <a:latin typeface="Aptos"/>
              </a:rPr>
              <a:t>All the 9 predictors were found to be statistically significant according to their p values.</a:t>
            </a:r>
            <a:endParaRPr lang="en-IN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F3752"/>
                </a:solidFill>
                <a:latin typeface="Aptos"/>
              </a:rPr>
              <a:t>Statistical findings &amp; distribution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786384"/>
            <a:ext cx="11109960" cy="22860"/>
          </a:xfrm>
          <a:prstGeom prst="rect">
            <a:avLst/>
          </a:prstGeom>
          <a:solidFill>
            <a:srgbClr val="E5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6510528"/>
            <a:ext cx="54864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6E78"/>
                </a:solidFill>
                <a:latin typeface="Aptos"/>
              </a:rPr>
              <a:t>3/6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81456"/>
            <a:ext cx="3703320" cy="24231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987552"/>
            <a:ext cx="3703320" cy="242316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987552"/>
            <a:ext cx="3703320" cy="2423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" y="3502152"/>
            <a:ext cx="35661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22364E"/>
                </a:solidFill>
                <a:latin typeface="Aptos"/>
              </a:defRPr>
            </a:pPr>
            <a:r>
              <a:t>CREDIT LIMIT  ·  RIGHT-SKEWED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3767328"/>
            <a:ext cx="3566160" cy="4846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0">
                <a:solidFill>
                  <a:srgbClr val="343C45"/>
                </a:solidFill>
                <a:latin typeface="Aptos"/>
              </a:defRPr>
            </a:pPr>
            <a:r>
              <a:t>Most limits are lower or mid-range; a smaller number of high limits create a long right tail.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9392" y="3502152"/>
            <a:ext cx="35661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22364E"/>
                </a:solidFill>
                <a:latin typeface="Aptos"/>
              </a:defRPr>
            </a:pPr>
            <a:r>
              <a:t>AGE  ·  MILD ASYMMETRY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9392" y="3767328"/>
            <a:ext cx="3566160" cy="4846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0">
                <a:solidFill>
                  <a:srgbClr val="343C45"/>
                </a:solidFill>
                <a:latin typeface="Aptos"/>
              </a:defRPr>
            </a:pPr>
            <a:r>
              <a:t>Compare the bars with the bell curve: uneven tails or a peak away from the centre indicate non-normality.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9872" y="3502152"/>
            <a:ext cx="35661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22364E"/>
                </a:solidFill>
                <a:latin typeface="Aptos"/>
              </a:defRPr>
            </a:pPr>
            <a:r>
              <a:t>BILL AMOUNT  ·  STRONG RIGHT 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2" y="3767328"/>
            <a:ext cx="3566160" cy="4846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0">
                <a:solidFill>
                  <a:srgbClr val="343C45"/>
                </a:solidFill>
                <a:latin typeface="Aptos"/>
              </a:defRPr>
            </a:pPr>
            <a:r>
              <a:t>A few very large bills stretch the distribution to the right, so the mean can exceed the median.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" y="4416552"/>
            <a:ext cx="10972800" cy="13716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553712"/>
            <a:ext cx="5532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22364E"/>
                </a:solidFill>
                <a:latin typeface="Aptos"/>
              </a:defRPr>
            </a:pPr>
            <a:r>
              <a:t>STATISTICAL FINDINGS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37176"/>
            <a:ext cx="553212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0">
                <a:solidFill>
                  <a:srgbClr val="343C45"/>
                </a:solidFill>
                <a:latin typeface="Aptos"/>
              </a:defRPr>
            </a:pPr>
            <a:r>
              <a:t>Credit limit: mean NT$167,442 (SD 129,760)  |  Age: mean 35.49 years (SD 9.22).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4553712"/>
            <a:ext cx="52578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22364E"/>
                </a:solidFill>
                <a:latin typeface="Aptos"/>
              </a:defRPr>
            </a:pPr>
            <a:r>
              <a:t>WELCH'S T-TESTS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837176"/>
            <a:ext cx="525780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0">
                <a:solidFill>
                  <a:srgbClr val="343C45"/>
                </a:solidFill>
                <a:latin typeface="Aptos"/>
              </a:defRPr>
            </a:pPr>
            <a:r>
              <a:t>All 9 selected variables were significant at unadjusted α = 0.05. Statistical significance does not prove causation.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50992"/>
            <a:ext cx="10972800" cy="1600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800" b="0">
                <a:solidFill>
                  <a:srgbClr val="646C75"/>
                </a:solidFill>
                <a:latin typeface="Aptos"/>
              </a:defRPr>
            </a:pPr>
            <a:r>
              <a:rPr dirty="0"/>
              <a:t>Normal curve = reference fitted using mean and SD.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F3752"/>
                </a:solidFill>
                <a:latin typeface="Aptos"/>
              </a:rPr>
              <a:t>Sampling precision &amp; model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786384"/>
            <a:ext cx="11109960" cy="22860"/>
          </a:xfrm>
          <a:prstGeom prst="rect">
            <a:avLst/>
          </a:prstGeom>
          <a:solidFill>
            <a:srgbClr val="E5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6510528"/>
            <a:ext cx="54864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6E78"/>
                </a:solidFill>
                <a:latin typeface="Aptos"/>
              </a:rP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33271"/>
            <a:ext cx="51206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5698B"/>
                </a:solidFill>
                <a:latin typeface="Aptos"/>
              </a:rPr>
              <a:t>REPEATED SAMPLING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484632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3752"/>
                </a:solidFill>
                <a:latin typeface="Aptos"/>
              </a:rPr>
              <a:t>Average default rate ≈ 22%
30 repetitions at each sample size</a:t>
            </a:r>
          </a:p>
        </p:txBody>
      </p:sp>
      <p:pic>
        <p:nvPicPr>
          <p:cNvPr id="7" name="Picture 6" descr="sampling_pr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57984"/>
            <a:ext cx="4892040" cy="2971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303520"/>
            <a:ext cx="475488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A31"/>
                </a:solidFill>
                <a:latin typeface="Aptos"/>
              </a:rPr>
              <a:t>Mean CI width: 0.1595 (n=100) → 0.0722 (n=500)
Larger samples generally produce more precise estimates.</a:t>
            </a:r>
          </a:p>
        </p:txBody>
      </p:sp>
      <p:pic>
        <p:nvPicPr>
          <p:cNvPr id="9" name="Picture 8" descr="test_model_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73480"/>
            <a:ext cx="6126480" cy="3337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0" y="4681728"/>
            <a:ext cx="56235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3752"/>
                </a:solidFill>
                <a:latin typeface="Aptos"/>
              </a:rPr>
              <a:t>Best by test accuracy / ROC-AUC: Gradient Boosting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5093208"/>
            <a:ext cx="56235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3752"/>
                </a:solidFill>
                <a:latin typeface="Aptos"/>
              </a:rPr>
              <a:t>Best by test recall / F1 and CV F1: Logistic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5724144"/>
            <a:ext cx="54864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566472"/>
                </a:solidFill>
                <a:latin typeface="Aptos"/>
              </a:rPr>
              <a:t>Model choice depends on the cost of missed defaults vs. false alarms.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F3752"/>
                </a:solidFill>
                <a:latin typeface="Aptos"/>
              </a:rPr>
              <a:t>Key observations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786384"/>
            <a:ext cx="11109960" cy="22860"/>
          </a:xfrm>
          <a:prstGeom prst="rect">
            <a:avLst/>
          </a:prstGeom>
          <a:solidFill>
            <a:srgbClr val="E5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6510528"/>
            <a:ext cx="54864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6E78"/>
                </a:solidFill>
                <a:latin typeface="Aptos"/>
              </a:rPr>
              <a:t>5/6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097280"/>
            <a:ext cx="3520440" cy="1417320"/>
          </a:xfrm>
          <a:prstGeom prst="roundRect">
            <a:avLst/>
          </a:prstGeom>
          <a:solidFill>
            <a:srgbClr val="F1F4F7"/>
          </a:solidFill>
          <a:ln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8096" y="1207007"/>
            <a:ext cx="322783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3752"/>
                </a:solidFill>
                <a:latin typeface="Aptos"/>
              </a:rPr>
              <a:t>STATISTICAL 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536192"/>
            <a:ext cx="3227832" cy="8869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A31"/>
                </a:solidFill>
                <a:latin typeface="Aptos"/>
              </a:rPr>
              <a:t>All 9 variables showed significant mean differences between default and non-default groups at the unadjusted 5% level.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097280"/>
            <a:ext cx="3520440" cy="1417320"/>
          </a:xfrm>
          <a:prstGeom prst="roundRect">
            <a:avLst/>
          </a:prstGeom>
          <a:solidFill>
            <a:srgbClr val="F1F4F7"/>
          </a:solidFill>
          <a:ln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9704" y="1207007"/>
            <a:ext cx="322783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3752"/>
                </a:solidFill>
                <a:latin typeface="Aptos"/>
              </a:rPr>
              <a:t>MODEL TRADE-OFF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9704" y="1536192"/>
            <a:ext cx="3227832" cy="8869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A31"/>
                </a:solidFill>
                <a:latin typeface="Aptos"/>
              </a:rPr>
              <a:t>Gradient Boosting: test accuracy 81.61%, ROC-AUC 0.7622.
Logistic Regression: recall 62.82%, F1 0.4740.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097280"/>
            <a:ext cx="3520440" cy="1417320"/>
          </a:xfrm>
          <a:prstGeom prst="roundRect">
            <a:avLst/>
          </a:prstGeom>
          <a:solidFill>
            <a:srgbClr val="F1F4F7"/>
          </a:solidFill>
          <a:ln>
            <a:solidFill>
              <a:srgbClr val="E5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11312" y="1207007"/>
            <a:ext cx="322783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3752"/>
                </a:solidFill>
                <a:latin typeface="Aptos"/>
              </a:rPr>
              <a:t>SAMPLING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1536192"/>
            <a:ext cx="3227832" cy="8869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A31"/>
                </a:solidFill>
                <a:latin typeface="Aptos"/>
              </a:rPr>
              <a:t>Average SE fell from 0.0411 at n=100 to 0.0185 at n=500; mean CI width narrowed.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35808"/>
            <a:ext cx="107899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5698B"/>
                </a:solidFill>
                <a:latin typeface="Aptos"/>
              </a:rPr>
              <a:t>WHAT THE RESULTS MEAN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474720"/>
            <a:ext cx="10698480" cy="1508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232A31"/>
                </a:solidFill>
                <a:latin typeface="Aptos"/>
              </a:defRPr>
            </a:pPr>
            <a:r>
              <a:t>• Statistics explains patterns and quantifies uncertainty; ML evaluates predictive performance.</a:t>
            </a:r>
          </a:p>
          <a:p>
            <a:pPr>
              <a:spcAft>
                <a:spcPts val="1200"/>
              </a:spcAft>
              <a:defRPr sz="1600" b="0">
                <a:solidFill>
                  <a:srgbClr val="232A31"/>
                </a:solidFill>
                <a:latin typeface="Aptos"/>
              </a:defRPr>
            </a:pPr>
            <a:r>
              <a:t>• Accuracy alone is insufficient for an imbalanced target; recall and F1 reveal default detection.</a:t>
            </a:r>
          </a:p>
          <a:p>
            <a:pPr>
              <a:spcAft>
                <a:spcPts val="800"/>
              </a:spcAft>
              <a:defRPr sz="1600" b="0">
                <a:solidFill>
                  <a:srgbClr val="232A31"/>
                </a:solidFill>
                <a:latin typeface="Aptos"/>
              </a:defRPr>
            </a:pPr>
            <a:r>
              <a:t>• Results are internal to this dataset; audit feature timing and validate on independent / later data before deployment.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532120"/>
            <a:ext cx="10881360" cy="548640"/>
          </a:xfrm>
          <a:prstGeom prst="rect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660136"/>
            <a:ext cx="104698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F3752"/>
                </a:solidFill>
                <a:latin typeface="Aptos"/>
              </a:rPr>
              <a:t>Conclusion: there is no universal best model—the choice must match the evaluation objective.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F3752"/>
                </a:solidFill>
                <a:latin typeface="Aptos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786384"/>
            <a:ext cx="11109960" cy="22860"/>
          </a:xfrm>
          <a:prstGeom prst="rect">
            <a:avLst/>
          </a:prstGeom>
          <a:solidFill>
            <a:srgbClr val="E5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09960" y="6510528"/>
            <a:ext cx="54864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6E78"/>
                </a:solidFill>
                <a:latin typeface="Aptos"/>
              </a:rP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78992"/>
            <a:ext cx="106984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5698B"/>
                </a:solidFill>
                <a:latin typeface="Aptos"/>
              </a:rP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44752"/>
            <a:ext cx="1074420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32A31"/>
                </a:solidFill>
                <a:latin typeface="Aptos"/>
              </a:rPr>
              <a:t>Yeh, I.-C. (2009). Default of Credit Card Clients [Dataset]. UCI Machine Learning Repository. https://doi.org/10.24432/C55S3H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95728"/>
            <a:ext cx="106984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5698B"/>
                </a:solidFill>
                <a:latin typeface="Aptos"/>
              </a:rPr>
              <a:t>RECENT STUDY (2025)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61488"/>
            <a:ext cx="10789920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32A31"/>
                </a:solidFill>
                <a:latin typeface="Aptos"/>
              </a:rPr>
              <a:t>Bhandary, R., &amp; Ghosh, B. K. (2025). Credit Card Default Prediction: An Empirical Analysis on Predictive Performance Using Statistical and Machine Learning Methods. Journal of Risk and Financial Management, 18(1), 23.
https://doi.org/10.3390/jrfm18010023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0"/>
            <a:ext cx="106984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5698B"/>
                </a:solidFill>
                <a:latin typeface="Aptos"/>
              </a:rPr>
              <a:t>WHY IT IS RELEVANT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480560"/>
            <a:ext cx="10607040" cy="9601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32A31"/>
                </a:solidFill>
                <a:latin typeface="Aptos"/>
              </a:rPr>
              <a:t>The 2025 study compares statistical and machine-learning approaches for credit-card default using the UCI dataset and reports metrics including precision, F1-score and AUC—closely aligned with this project’s model comparison.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806440"/>
            <a:ext cx="10698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3752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663</Words>
  <Application>Microsoft Office PowerPoint</Application>
  <PresentationFormat>Widescreen</PresentationFormat>
  <Paragraphs>78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ARNAV PAL</cp:lastModifiedBy>
  <cp:revision>5</cp:revision>
  <dcterms:created xsi:type="dcterms:W3CDTF">2013-01-27T09:14:16Z</dcterms:created>
  <dcterms:modified xsi:type="dcterms:W3CDTF">2026-10-15T02:53:12Z</dcterms:modified>
  <cp:category/>
</cp:coreProperties>
</file>