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ml/datasets/wine%20quality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ml/datasets/wine%20quality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ml/datasets/wine%20quality" TargetMode="External"/><Relationship Id="rId2" Type="http://schemas.openxmlformats.org/officeDocument/2006/relationships/hyperlink" Target="https://link.springer.com/article/10.1007/s42452-025-07999-8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ahilmadaan048/Wine_Quality_Statistical_Analysis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005840"/>
            <a:ext cx="1069848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800" b="1">
                <a:solidFill>
                  <a:srgbClr val="1E1E1E"/>
                </a:solidFill>
                <a:latin typeface="Aptos"/>
              </a:defRPr>
            </a:pPr>
            <a:r>
              <a:t>Statistical Analysis and Machine Learning-Based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27632"/>
            <a:ext cx="10698480" cy="5486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3100" b="1">
                <a:solidFill>
                  <a:srgbClr val="374B5F"/>
                </a:solidFill>
                <a:latin typeface="Aptos"/>
              </a:defRPr>
            </a:pPr>
            <a:r>
              <a:t>Prediction of Wine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450592"/>
            <a:ext cx="1024128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00" b="0">
                <a:solidFill>
                  <a:srgbClr val="414141"/>
                </a:solidFill>
                <a:latin typeface="Aptos"/>
              </a:defRPr>
            </a:pPr>
            <a:r>
              <a:t>Physicochemical properties • statistics • hypothesis testing • sampling • machine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3657600"/>
            <a:ext cx="2423160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3758184"/>
            <a:ext cx="21488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ORIGINAL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023360"/>
            <a:ext cx="214884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1,599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4572000"/>
            <a:ext cx="214884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observations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657600"/>
            <a:ext cx="2423160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3758184"/>
            <a:ext cx="21488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CLEAN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023360"/>
            <a:ext cx="214884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1,359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572000"/>
            <a:ext cx="214884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after 240 duplicates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3657600"/>
            <a:ext cx="2423160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0488" y="3758184"/>
            <a:ext cx="21488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PREDICTORS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4023360"/>
            <a:ext cx="214884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4572000"/>
            <a:ext cx="214884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physicochemical variables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77656" y="3657600"/>
            <a:ext cx="2423160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14816" y="3758184"/>
            <a:ext cx="21488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BEST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4023360"/>
            <a:ext cx="214884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4572000"/>
            <a:ext cx="214884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RMSE 0.6440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850" b="0">
                <a:solidFill>
                  <a:srgbClr val="69696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E2E63F-1213-AB93-B195-9E3007F04B12}"/>
              </a:ext>
            </a:extLst>
          </p:cNvPr>
          <p:cNvSpPr txBox="1"/>
          <p:nvPr/>
        </p:nvSpPr>
        <p:spPr>
          <a:xfrm>
            <a:off x="717509" y="5795736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696969"/>
                </a:solidFill>
                <a:latin typeface="Aptos"/>
              </a:rPr>
              <a:t>Primary dataset: UCI </a:t>
            </a:r>
            <a:r>
              <a:rPr lang="en-US" sz="1400" dirty="0">
                <a:solidFill>
                  <a:srgbClr val="696969"/>
                </a:solidFill>
                <a:latin typeface="Aptos"/>
              </a:rPr>
              <a:t>Red </a:t>
            </a:r>
            <a:r>
              <a:rPr sz="1400" dirty="0">
                <a:solidFill>
                  <a:srgbClr val="696969"/>
                </a:solidFill>
                <a:latin typeface="Aptos"/>
              </a:rPr>
              <a:t>Wine Quality — </a:t>
            </a:r>
            <a:r>
              <a:rPr sz="1400" dirty="0">
                <a:solidFill>
                  <a:srgbClr val="374B5F"/>
                </a:solidFill>
                <a:latin typeface="Aptos"/>
                <a:hlinkClick r:id="rId2"/>
              </a:rPr>
              <a:t>dataset page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73152" cy="548640"/>
          </a:xfrm>
          <a:prstGeom prst="rect">
            <a:avLst/>
          </a:prstGeom>
          <a:solidFill>
            <a:srgbClr val="374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789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Aptos"/>
              </a:defRPr>
            </a:pPr>
            <a:r>
              <a:t>1. Dataset and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05256"/>
            <a:ext cx="10698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80" b="0">
                <a:solidFill>
                  <a:srgbClr val="696969"/>
                </a:solidFill>
                <a:latin typeface="Aptos"/>
              </a:defRPr>
            </a:pPr>
            <a:r>
              <a:t>What we started with and what we changed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26464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1,599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05740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original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325880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79" y="1426464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1691640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103120"/>
            <a:ext cx="205740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11 features +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325880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0" y="1426464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691640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103120"/>
            <a:ext cx="205740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no imputation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325880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1426464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691640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240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03120"/>
            <a:ext cx="205740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exact duplicate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" y="3237910"/>
            <a:ext cx="516636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650" b="1">
                <a:solidFill>
                  <a:srgbClr val="1E1E1E"/>
                </a:solidFill>
                <a:latin typeface="Aptos"/>
              </a:defRPr>
            </a:pPr>
            <a:r>
              <a:t>Dataset definition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85616"/>
            <a:ext cx="5166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14141"/>
                </a:solidFill>
                <a:latin typeface="Aptos"/>
              </a:defRPr>
            </a:pPr>
            <a:r>
              <a:rPr dirty="0"/>
              <a:t>• 11 physicochemical variables + quality score.</a:t>
            </a:r>
          </a:p>
          <a:p>
            <a:pPr>
              <a:spcAft>
                <a:spcPts val="600"/>
              </a:spcAft>
              <a:defRPr sz="1250">
                <a:solidFill>
                  <a:srgbClr val="414141"/>
                </a:solidFill>
                <a:latin typeface="Aptos"/>
              </a:defRPr>
            </a:pPr>
            <a:r>
              <a:rPr dirty="0"/>
              <a:t>• Quality is numerical, so the main ML task is regression.</a:t>
            </a:r>
          </a:p>
          <a:p>
            <a:pPr>
              <a:spcAft>
                <a:spcPts val="600"/>
              </a:spcAft>
              <a:defRPr sz="1250">
                <a:solidFill>
                  <a:srgbClr val="414141"/>
                </a:solidFill>
                <a:latin typeface="Aptos"/>
              </a:defRPr>
            </a:pPr>
            <a:r>
              <a:rPr dirty="0"/>
              <a:t>• Quality scores are concentrated around 5 and 6; scores 3 and 8 are rare.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043379"/>
            <a:ext cx="5074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650" b="1">
                <a:solidFill>
                  <a:srgbClr val="1E1E1E"/>
                </a:solidFill>
                <a:latin typeface="Aptos"/>
              </a:defRPr>
            </a:pPr>
            <a:r>
              <a:rPr dirty="0"/>
              <a:t>Cleaning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571175"/>
            <a:ext cx="5074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414141"/>
                </a:solidFill>
                <a:latin typeface="Aptos"/>
              </a:defRPr>
            </a:pPr>
            <a:r>
              <a:rPr dirty="0"/>
              <a:t>• No missing values → no imputation.</a:t>
            </a:r>
          </a:p>
          <a:p>
            <a:pPr>
              <a:spcAft>
                <a:spcPts val="600"/>
              </a:spcAft>
              <a:defRPr sz="1230">
                <a:solidFill>
                  <a:srgbClr val="414141"/>
                </a:solidFill>
                <a:latin typeface="Aptos"/>
              </a:defRPr>
            </a:pPr>
            <a:r>
              <a:rPr dirty="0"/>
              <a:t>• 240 exact duplicate rows removed to avoid repeated identical records receiving extra weight.</a:t>
            </a:r>
          </a:p>
          <a:p>
            <a:pPr>
              <a:spcAft>
                <a:spcPts val="600"/>
              </a:spcAft>
              <a:defRPr sz="1230">
                <a:solidFill>
                  <a:srgbClr val="414141"/>
                </a:solidFill>
                <a:latin typeface="Aptos"/>
              </a:defRPr>
            </a:pPr>
            <a:r>
              <a:rPr dirty="0"/>
              <a:t>• Final analytical dataset = 1,359 observations.</a:t>
            </a:r>
          </a:p>
          <a:p>
            <a:pPr>
              <a:spcAft>
                <a:spcPts val="600"/>
              </a:spcAft>
              <a:defRPr sz="1230">
                <a:solidFill>
                  <a:srgbClr val="414141"/>
                </a:solidFill>
                <a:latin typeface="Aptos"/>
              </a:defRPr>
            </a:pPr>
            <a:r>
              <a:rPr dirty="0"/>
              <a:t>• Duplicates were not automatically assumed to be errors.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850" b="0">
                <a:solidFill>
                  <a:srgbClr val="69696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7F970D-982F-E18E-93DE-60A9C1CE77CD}"/>
              </a:ext>
            </a:extLst>
          </p:cNvPr>
          <p:cNvSpPr txBox="1"/>
          <p:nvPr/>
        </p:nvSpPr>
        <p:spPr>
          <a:xfrm>
            <a:off x="576072" y="5795736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696969"/>
                </a:solidFill>
                <a:latin typeface="Aptos"/>
              </a:rPr>
              <a:t>Primary dataset: UCI </a:t>
            </a:r>
            <a:r>
              <a:rPr lang="en-US" sz="1400" dirty="0">
                <a:solidFill>
                  <a:srgbClr val="696969"/>
                </a:solidFill>
                <a:latin typeface="Aptos"/>
              </a:rPr>
              <a:t>Red </a:t>
            </a:r>
            <a:r>
              <a:rPr sz="1400" dirty="0">
                <a:solidFill>
                  <a:srgbClr val="696969"/>
                </a:solidFill>
                <a:latin typeface="Aptos"/>
              </a:rPr>
              <a:t>Wine Quality — </a:t>
            </a:r>
            <a:r>
              <a:rPr sz="1400" dirty="0">
                <a:solidFill>
                  <a:srgbClr val="374B5F"/>
                </a:solidFill>
                <a:latin typeface="Aptos"/>
                <a:hlinkClick r:id="rId2"/>
              </a:rPr>
              <a:t>dataset page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73152" cy="548640"/>
          </a:xfrm>
          <a:prstGeom prst="rect">
            <a:avLst/>
          </a:prstGeom>
          <a:solidFill>
            <a:srgbClr val="374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789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Aptos"/>
              </a:defRPr>
            </a:pPr>
            <a:r>
              <a:t>2. Statistics and Hypothesis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05256"/>
            <a:ext cx="10698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80" b="0">
                <a:solidFill>
                  <a:srgbClr val="696969"/>
                </a:solidFill>
                <a:latin typeface="Aptos"/>
              </a:defRPr>
            </a:pPr>
            <a:r>
              <a:t>What we observed and what the tests changed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07592"/>
            <a:ext cx="2468880" cy="1078992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08176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MEAN 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219456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10.4323%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12264"/>
            <a:ext cx="219456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cleaned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307592"/>
            <a:ext cx="2468880" cy="1078992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8728" y="1408176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95% 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1673352"/>
            <a:ext cx="219456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10.3747–10.4899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112264"/>
            <a:ext cx="219456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95%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307592"/>
            <a:ext cx="2468880" cy="1078992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54496" y="1408176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ONE-SAMPLE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1673352"/>
            <a:ext cx="219456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t = 14.7284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2112264"/>
            <a:ext cx="219456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p = 1.16×10⁻⁴⁵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3104" y="1307592"/>
            <a:ext cx="2468880" cy="1078992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70264" y="1408176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CORRELATION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1673352"/>
            <a:ext cx="219456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r = 0.4803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0264" y="2112264"/>
            <a:ext cx="219456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alcohol vs quality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159201"/>
              </p:ext>
            </p:extLst>
          </p:nvPr>
        </p:nvGraphicFramePr>
        <p:xfrm>
          <a:off x="685800" y="2651760"/>
          <a:ext cx="1033272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H₀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Decision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rPr lang="en-US" dirty="0"/>
                        <a:t>One Sample Two tailed </a:t>
                      </a:r>
                      <a:r>
                        <a:rPr dirty="0"/>
                        <a:t> t-test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μ = 10%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p = 1.16×10⁻⁴⁵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Reject H₀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rPr lang="en-US" dirty="0"/>
                        <a:t>Two Sample two tailed </a:t>
                      </a:r>
                      <a:r>
                        <a:rPr dirty="0"/>
                        <a:t>t-test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rPr dirty="0" err="1"/>
                        <a:t>μlow</a:t>
                      </a:r>
                      <a:r>
                        <a:rPr dirty="0"/>
                        <a:t> = </a:t>
                      </a:r>
                      <a:r>
                        <a:rPr dirty="0" err="1"/>
                        <a:t>μhigh</a:t>
                      </a:r>
                      <a:endParaRPr dirty="0"/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rPr dirty="0"/>
                        <a:t>p = 1.80×10⁻⁶⁹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rPr dirty="0"/>
                        <a:t>Reject H₀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34759" y="4203081"/>
            <a:ext cx="507492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550" b="1">
                <a:solidFill>
                  <a:srgbClr val="1E1E1E"/>
                </a:solidFill>
                <a:latin typeface="Aptos"/>
              </a:defRPr>
            </a:pPr>
            <a:r>
              <a:t>Low vs high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53712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80">
                <a:solidFill>
                  <a:srgbClr val="414141"/>
                </a:solidFill>
                <a:latin typeface="Aptos"/>
              </a:defRPr>
            </a:pPr>
            <a:r>
              <a:t>• Low (≤5): mean alcohol = 9.9208%</a:t>
            </a:r>
          </a:p>
          <a:p>
            <a:pPr>
              <a:spcAft>
                <a:spcPts val="500"/>
              </a:spcAft>
              <a:defRPr sz="1180">
                <a:solidFill>
                  <a:srgbClr val="414141"/>
                </a:solidFill>
                <a:latin typeface="Aptos"/>
              </a:defRPr>
            </a:pPr>
            <a:r>
              <a:t>• High (≥6): mean alcohol = 10.8876%</a:t>
            </a:r>
          </a:p>
          <a:p>
            <a:pPr>
              <a:spcAft>
                <a:spcPts val="500"/>
              </a:spcAft>
              <a:defRPr sz="1180">
                <a:solidFill>
                  <a:srgbClr val="414141"/>
                </a:solidFill>
                <a:latin typeface="Aptos"/>
              </a:defRPr>
            </a:pPr>
            <a:r>
              <a:t>• Difference = 0.9669 percentage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224528"/>
            <a:ext cx="4983480" cy="4955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defRPr sz="1550" b="1">
                <a:solidFill>
                  <a:srgbClr val="1E1E1E"/>
                </a:solidFill>
                <a:latin typeface="Aptos"/>
              </a:defRPr>
            </a:pPr>
            <a:r>
              <a:rPr lang="en-US" dirty="0"/>
              <a:t>What did we learn from increasing sample size?</a:t>
            </a:r>
          </a:p>
          <a:p>
            <a:pPr algn="l">
              <a:defRPr sz="1550" b="1">
                <a:solidFill>
                  <a:srgbClr val="1E1E1E"/>
                </a:solidFill>
                <a:latin typeface="Aptos"/>
              </a:defRPr>
            </a:pP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6217920" y="4553712"/>
            <a:ext cx="4983480" cy="75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14141"/>
                </a:solidFill>
                <a:latin typeface="Aptos"/>
              </a:defRPr>
            </a:pPr>
            <a:r>
              <a:rPr lang="en-US" dirty="0"/>
              <a:t>• </a:t>
            </a:r>
            <a:r>
              <a:rPr lang="en-US" sz="1150" dirty="0">
                <a:solidFill>
                  <a:srgbClr val="414141"/>
                </a:solidFill>
                <a:latin typeface="Aptos"/>
              </a:rPr>
              <a:t>Larger samples give more stable estimates.</a:t>
            </a:r>
            <a:endParaRPr lang="en-US" dirty="0"/>
          </a:p>
          <a:p>
            <a:pPr>
              <a:spcAft>
                <a:spcPts val="500"/>
              </a:spcAft>
              <a:defRPr sz="1150">
                <a:solidFill>
                  <a:srgbClr val="414141"/>
                </a:solidFill>
                <a:latin typeface="Aptos"/>
              </a:defRPr>
            </a:pPr>
            <a:r>
              <a:rPr lang="en-US" dirty="0"/>
              <a:t>• </a:t>
            </a:r>
            <a:r>
              <a:rPr lang="en-US" sz="1150" dirty="0">
                <a:solidFill>
                  <a:srgbClr val="414141"/>
                </a:solidFill>
                <a:latin typeface="Aptos"/>
              </a:rPr>
              <a:t>Confidence intervals become narrower.</a:t>
            </a:r>
          </a:p>
          <a:p>
            <a:pPr>
              <a:spcAft>
                <a:spcPts val="500"/>
              </a:spcAft>
              <a:defRPr sz="1150">
                <a:solidFill>
                  <a:srgbClr val="414141"/>
                </a:solidFill>
                <a:latin typeface="Aptos"/>
              </a:defRPr>
            </a:pPr>
            <a:r>
              <a:rPr lang="en-US" dirty="0"/>
              <a:t>•</a:t>
            </a:r>
            <a:r>
              <a:rPr lang="en-US" sz="1150" dirty="0">
                <a:solidFill>
                  <a:srgbClr val="414141"/>
                </a:solidFill>
                <a:latin typeface="Aptos"/>
              </a:rPr>
              <a:t>It becomes easier to detect a difference from 10%.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850" b="0">
                <a:solidFill>
                  <a:srgbClr val="696969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73152" cy="548640"/>
          </a:xfrm>
          <a:prstGeom prst="rect">
            <a:avLst/>
          </a:prstGeom>
          <a:solidFill>
            <a:srgbClr val="374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789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Aptos"/>
              </a:defRPr>
            </a:pPr>
            <a:r>
              <a:t>3. Sampling: Population Signal vs Random-Sample Variation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516636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620" b="1">
                <a:solidFill>
                  <a:srgbClr val="1E1E1E"/>
                </a:solidFill>
                <a:latin typeface="Aptos"/>
              </a:defRPr>
            </a:pPr>
            <a:r>
              <a:t>Repeated sampling from the cleaned dataset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64208"/>
          <a:ext cx="47548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of sample means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SD of sample means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Avg. CI width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10.4453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0.1626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0.6205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10.4221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0.1137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0.4177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250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10.4404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0.0691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0.2695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500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10.4201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0.0445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0.1893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1000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10.4325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0.0160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0.1340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72200" y="1298448"/>
            <a:ext cx="50749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620" b="1">
                <a:solidFill>
                  <a:srgbClr val="1E1E1E"/>
                </a:solidFill>
                <a:latin typeface="Aptos"/>
              </a:defRPr>
            </a:pPr>
            <a:r>
              <a:t>What can we conclude?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64208"/>
            <a:ext cx="5074920" cy="1177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60">
                <a:solidFill>
                  <a:srgbClr val="414141"/>
                </a:solidFill>
                <a:latin typeface="Aptos"/>
              </a:defRPr>
            </a:pPr>
            <a:r>
              <a:rPr dirty="0"/>
              <a:t>• Sample means vary because random samples are different.</a:t>
            </a:r>
          </a:p>
          <a:p>
            <a:pPr>
              <a:spcAft>
                <a:spcPts val="500"/>
              </a:spcAft>
              <a:defRPr sz="1160">
                <a:solidFill>
                  <a:srgbClr val="414141"/>
                </a:solidFill>
                <a:latin typeface="Aptos"/>
              </a:defRPr>
            </a:pPr>
            <a:r>
              <a:rPr dirty="0"/>
              <a:t>• Variation shrinks strongly as n increases.</a:t>
            </a:r>
          </a:p>
          <a:p>
            <a:pPr>
              <a:spcAft>
                <a:spcPts val="500"/>
              </a:spcAft>
              <a:defRPr sz="1160">
                <a:solidFill>
                  <a:srgbClr val="414141"/>
                </a:solidFill>
                <a:latin typeface="Aptos"/>
              </a:defRPr>
            </a:pPr>
            <a:r>
              <a:rPr dirty="0"/>
              <a:t>• The sample means center near the cleaned-data mean of 10.4323%.</a:t>
            </a:r>
          </a:p>
          <a:p>
            <a:pPr>
              <a:spcAft>
                <a:spcPts val="500"/>
              </a:spcAft>
              <a:defRPr sz="1160">
                <a:solidFill>
                  <a:srgbClr val="414141"/>
                </a:solidFill>
                <a:latin typeface="Aptos"/>
              </a:defRPr>
            </a:pPr>
            <a:r>
              <a:rPr dirty="0"/>
              <a:t>• Therefore, sampling randomness explains differences among individual samples.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850" b="0">
                <a:solidFill>
                  <a:srgbClr val="696969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3EAD9DA-8380-E331-C4A2-291EE3E1F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429000"/>
            <a:ext cx="5166360" cy="31477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73152" cy="548640"/>
          </a:xfrm>
          <a:prstGeom prst="rect">
            <a:avLst/>
          </a:prstGeom>
          <a:solidFill>
            <a:srgbClr val="374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789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Aptos"/>
              </a:defRPr>
            </a:pPr>
            <a:r>
              <a:t>4. Machine Learning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05256"/>
            <a:ext cx="10698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80" b="0">
                <a:solidFill>
                  <a:srgbClr val="696969"/>
                </a:solidFill>
                <a:latin typeface="Aptos"/>
              </a:defRPr>
            </a:pPr>
            <a:r>
              <a:t>Predicting quality with 5-fold cross-validation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53312"/>
          <a:ext cx="66294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MAE ↓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MSE ↓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RMSE ↓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R² ↑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Linear Regression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0.5118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0.4417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0.6645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0.3465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0.4931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0.4150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0.6440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0.3853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26679" y="1371600"/>
            <a:ext cx="347472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550" b="1">
                <a:solidFill>
                  <a:srgbClr val="1E1E1E"/>
                </a:solidFill>
                <a:latin typeface="Aptos"/>
              </a:defRPr>
            </a:pPr>
            <a:r>
              <a:t>Best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700784"/>
            <a:ext cx="347472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100" b="1">
                <a:solidFill>
                  <a:srgbClr val="374B5F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48840"/>
            <a:ext cx="3474720" cy="5486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420" b="1">
                <a:solidFill>
                  <a:srgbClr val="414141"/>
                </a:solidFill>
                <a:latin typeface="Aptos"/>
              </a:defRPr>
            </a:pPr>
            <a:r>
              <a:t>RMSE = 0.6440</a:t>
            </a:r>
            <a:br/>
            <a:r>
              <a:t>R² = 0.3853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1663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550" b="1">
                <a:solidFill>
                  <a:srgbClr val="1E1E1E"/>
                </a:solidFill>
                <a:latin typeface="Aptos"/>
              </a:defRPr>
            </a:pPr>
            <a:r>
              <a:t>Random Forest feature importance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547872"/>
          <a:ext cx="5029200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088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Importance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Alcohol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0.2777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Sulphates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0.1392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Volatile acidity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0.1295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Total sulfur dioxide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0.0770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Chlorides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0.0623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3200400"/>
            <a:ext cx="489204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550" b="1">
                <a:solidFill>
                  <a:srgbClr val="1E1E1E"/>
                </a:solidFill>
                <a:latin typeface="Aptos"/>
              </a:defRPr>
            </a:pPr>
            <a:r>
              <a:t>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547872"/>
            <a:ext cx="480060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70">
                <a:solidFill>
                  <a:srgbClr val="414141"/>
                </a:solidFill>
                <a:latin typeface="Aptos"/>
              </a:defRPr>
            </a:pPr>
            <a:r>
              <a:t>• Random Forest outperformed Linear Regression on all four metrics.</a:t>
            </a:r>
          </a:p>
          <a:p>
            <a:pPr>
              <a:spcAft>
                <a:spcPts val="600"/>
              </a:spcAft>
              <a:defRPr sz="1170">
                <a:solidFill>
                  <a:srgbClr val="414141"/>
                </a:solidFill>
                <a:latin typeface="Aptos"/>
              </a:defRPr>
            </a:pPr>
            <a:r>
              <a:t>• It can capture nonlinear relationships and interactions.</a:t>
            </a:r>
          </a:p>
          <a:p>
            <a:pPr>
              <a:spcAft>
                <a:spcPts val="600"/>
              </a:spcAft>
              <a:defRPr sz="1170">
                <a:solidFill>
                  <a:srgbClr val="414141"/>
                </a:solidFill>
                <a:latin typeface="Aptos"/>
              </a:defRPr>
            </a:pPr>
            <a:r>
              <a:t>• Alcohol is the strongest model feature.</a:t>
            </a:r>
          </a:p>
          <a:p>
            <a:pPr>
              <a:spcAft>
                <a:spcPts val="600"/>
              </a:spcAft>
              <a:defRPr sz="1170">
                <a:solidFill>
                  <a:srgbClr val="414141"/>
                </a:solidFill>
                <a:latin typeface="Aptos"/>
              </a:defRPr>
            </a:pPr>
            <a:r>
              <a:t>• R² = 0.3853 is not 38.5% prediction accuracy.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850" b="0">
                <a:solidFill>
                  <a:srgbClr val="696969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73152" cy="548640"/>
          </a:xfrm>
          <a:prstGeom prst="rect">
            <a:avLst/>
          </a:prstGeom>
          <a:solidFill>
            <a:srgbClr val="374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78992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Aptos"/>
              </a:defRPr>
            </a:pPr>
            <a:r>
              <a:t>5. Conclusions, Limitations and Recent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05256"/>
            <a:ext cx="10698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80" b="0">
                <a:solidFill>
                  <a:srgbClr val="696969"/>
                </a:solidFill>
                <a:latin typeface="Aptos"/>
              </a:defRPr>
            </a:pPr>
            <a:r>
              <a:t>What the project ultimately tells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51663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550" b="1">
                <a:solidFill>
                  <a:srgbClr val="1E1E1E"/>
                </a:solidFill>
                <a:latin typeface="Aptos"/>
              </a:defRPr>
            </a:pPr>
            <a:r>
              <a:t>Main 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9344"/>
            <a:ext cx="5166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414141"/>
                </a:solidFill>
                <a:latin typeface="Aptos"/>
              </a:defRPr>
            </a:pPr>
            <a:r>
              <a:rPr dirty="0"/>
              <a:t>• Alcohol is positively associated with quality and is the most important Random Forest feature.</a:t>
            </a:r>
          </a:p>
          <a:p>
            <a:pPr>
              <a:spcAft>
                <a:spcPts val="500"/>
              </a:spcAft>
              <a:defRPr sz="1200">
                <a:solidFill>
                  <a:srgbClr val="414141"/>
                </a:solidFill>
                <a:latin typeface="Aptos"/>
              </a:defRPr>
            </a:pPr>
            <a:r>
              <a:rPr dirty="0"/>
              <a:t>• Both hypothesis tests reject H₀ at α = 0.05.</a:t>
            </a:r>
          </a:p>
          <a:p>
            <a:pPr>
              <a:spcAft>
                <a:spcPts val="500"/>
              </a:spcAft>
              <a:defRPr sz="1200">
                <a:solidFill>
                  <a:srgbClr val="414141"/>
                </a:solidFill>
                <a:latin typeface="Aptos"/>
              </a:defRPr>
            </a:pPr>
            <a:r>
              <a:rPr dirty="0"/>
              <a:t>• Larger samples give more stable means and narrower CIs.</a:t>
            </a:r>
          </a:p>
          <a:p>
            <a:pPr>
              <a:spcAft>
                <a:spcPts val="500"/>
              </a:spcAft>
              <a:defRPr sz="1200">
                <a:solidFill>
                  <a:srgbClr val="414141"/>
                </a:solidFill>
                <a:latin typeface="Aptos"/>
              </a:defRPr>
            </a:pPr>
            <a:r>
              <a:rPr dirty="0"/>
              <a:t>• Random Forest performs better than Linear Regression.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67328"/>
            <a:ext cx="51663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550" b="1">
                <a:solidFill>
                  <a:srgbClr val="1E1E1E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5166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14141"/>
                </a:solidFill>
                <a:latin typeface="Aptos"/>
              </a:defRPr>
            </a:pPr>
            <a:r>
              <a:t>• Observational data → no causal claim.</a:t>
            </a:r>
          </a:p>
          <a:p>
            <a:pPr>
              <a:spcAft>
                <a:spcPts val="500"/>
              </a:spcAft>
              <a:defRPr sz="1150">
                <a:solidFill>
                  <a:srgbClr val="414141"/>
                </a:solidFill>
                <a:latin typeface="Aptos"/>
              </a:defRPr>
            </a:pPr>
            <a:r>
              <a:t>• The UCI dataset is not automatically the entire real-world population.</a:t>
            </a:r>
          </a:p>
          <a:p>
            <a:pPr>
              <a:spcAft>
                <a:spcPts val="500"/>
              </a:spcAft>
              <a:defRPr sz="1150">
                <a:solidFill>
                  <a:srgbClr val="414141"/>
                </a:solidFill>
                <a:latin typeface="Aptos"/>
              </a:defRPr>
            </a:pPr>
            <a:r>
              <a:t>• R² = 0.3853 leaves substantial variation unexplained.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2872" y="1261872"/>
            <a:ext cx="5074920" cy="4297680"/>
          </a:xfrm>
          <a:prstGeom prst="roundRect">
            <a:avLst/>
          </a:prstGeom>
          <a:solidFill>
            <a:srgbClr val="F7F7F7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382512" y="1481328"/>
            <a:ext cx="46177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Aptos"/>
              </a:defRPr>
            </a:pPr>
            <a:r>
              <a:t>Recent study —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47088"/>
            <a:ext cx="4617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dirty="0">
                <a:solidFill>
                  <a:srgbClr val="414141"/>
                </a:solidFill>
                <a:latin typeface="Aptos"/>
              </a:rPr>
              <a:t>Khan et al. (2025/2026), </a:t>
            </a:r>
            <a:r>
              <a:rPr sz="1080" dirty="0">
                <a:solidFill>
                  <a:srgbClr val="374B5F"/>
                </a:solidFill>
                <a:latin typeface="Aptos"/>
                <a:hlinkClick r:id="rId2"/>
              </a:rPr>
              <a:t>“Improved machine learning framework with feature engineering and SHAP analysis for predicting wine quality”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583180"/>
            <a:ext cx="4617720" cy="6858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40" b="0">
                <a:solidFill>
                  <a:srgbClr val="414141"/>
                </a:solidFill>
                <a:latin typeface="Aptos"/>
              </a:defRPr>
            </a:pPr>
            <a:r>
              <a:rPr dirty="0"/>
              <a:t>Discover Applied Sciences. Published online 29 December 2025. The study uses the UCI wine-quality data and identifies alcohol, sulfur dioxide and volatile acidity among influential predictors.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653028"/>
            <a:ext cx="461772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80" b="1">
                <a:solidFill>
                  <a:srgbClr val="1E1E1E"/>
                </a:solidFill>
                <a:latin typeface="Aptos"/>
              </a:defRPr>
            </a:pPr>
            <a:r>
              <a:rPr dirty="0"/>
              <a:t>Why it matters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3993519"/>
            <a:ext cx="4617720" cy="3354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30" b="0">
                <a:solidFill>
                  <a:srgbClr val="414141"/>
                </a:solidFill>
                <a:latin typeface="Aptos"/>
              </a:defRPr>
            </a:pPr>
            <a:r>
              <a:rPr dirty="0"/>
              <a:t>Our project reaches a compatible feature-level observation: alcohol is strongly related to quality and is the top Random Forest feature.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651887"/>
            <a:ext cx="461772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dirty="0">
                <a:solidFill>
                  <a:srgbClr val="696969"/>
                </a:solidFill>
                <a:latin typeface="Aptos"/>
              </a:rPr>
              <a:t>Primary dataset: UCI Wine Quality </a:t>
            </a:r>
            <a:r>
              <a:rPr lang="en-US" sz="950" dirty="0">
                <a:solidFill>
                  <a:srgbClr val="696969"/>
                </a:solidFill>
                <a:latin typeface="Aptos"/>
              </a:rPr>
              <a:t>-</a:t>
            </a:r>
            <a:r>
              <a:rPr sz="950" dirty="0">
                <a:solidFill>
                  <a:srgbClr val="696969"/>
                </a:solidFill>
                <a:latin typeface="Aptos"/>
              </a:rPr>
              <a:t> </a:t>
            </a:r>
            <a:r>
              <a:rPr sz="950" dirty="0">
                <a:solidFill>
                  <a:srgbClr val="374B5F"/>
                </a:solidFill>
                <a:latin typeface="Aptos"/>
                <a:hlinkClick r:id="rId3"/>
              </a:rPr>
              <a:t>dataset page</a:t>
            </a:r>
            <a:br>
              <a:rPr lang="en-US" sz="950" dirty="0">
                <a:solidFill>
                  <a:srgbClr val="374B5F"/>
                </a:solidFill>
                <a:latin typeface="Aptos"/>
                <a:hlinkClick r:id="rId3"/>
              </a:rPr>
            </a:br>
            <a:endParaRPr lang="en-US" sz="950" dirty="0">
              <a:solidFill>
                <a:srgbClr val="374B5F"/>
              </a:solidFill>
              <a:latin typeface="Aptos"/>
            </a:endParaRPr>
          </a:p>
          <a:p>
            <a:r>
              <a:rPr lang="en-US" sz="950" dirty="0">
                <a:solidFill>
                  <a:srgbClr val="696969"/>
                </a:solidFill>
                <a:latin typeface="Aptos"/>
              </a:rPr>
              <a:t>Project Repository – </a:t>
            </a:r>
            <a:r>
              <a:rPr lang="en-US" sz="950" dirty="0" err="1">
                <a:solidFill>
                  <a:srgbClr val="696969"/>
                </a:solidFill>
                <a:latin typeface="Aptos"/>
              </a:rPr>
              <a:t>Gi</a:t>
            </a:r>
            <a:r>
              <a:rPr lang="en-US" sz="950" dirty="0" err="1">
                <a:solidFill>
                  <a:srgbClr val="696969"/>
                </a:solidFill>
                <a:latin typeface="Aptos"/>
                <a:hlinkClick r:id="rId4"/>
              </a:rPr>
              <a:t>thub</a:t>
            </a:r>
            <a:r>
              <a:rPr lang="en-US" sz="950" dirty="0">
                <a:solidFill>
                  <a:srgbClr val="696969"/>
                </a:solidFill>
                <a:latin typeface="Aptos"/>
                <a:hlinkClick r:id="rId4"/>
              </a:rPr>
              <a:t> link</a:t>
            </a:r>
            <a:endParaRPr lang="en-US" sz="950" dirty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507492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69" b="0">
                <a:solidFill>
                  <a:srgbClr val="696969"/>
                </a:solidFill>
                <a:latin typeface="Aptos"/>
              </a:defRPr>
            </a:pPr>
            <a:r>
              <a:t>Cortez et al. (2009) — original UCI wine-quality study.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850" b="0">
                <a:solidFill>
                  <a:srgbClr val="696969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727</Words>
  <Application>Microsoft Office PowerPoint</Application>
  <PresentationFormat>Widescreen</PresentationFormat>
  <Paragraphs>168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Sahil Madaan</cp:lastModifiedBy>
  <cp:revision>6</cp:revision>
  <dcterms:created xsi:type="dcterms:W3CDTF">2013-01-27T09:14:16Z</dcterms:created>
  <dcterms:modified xsi:type="dcterms:W3CDTF">2026-10-09T06:04:54Z</dcterms:modified>
  <cp:category/>
</cp:coreProperties>
</file>