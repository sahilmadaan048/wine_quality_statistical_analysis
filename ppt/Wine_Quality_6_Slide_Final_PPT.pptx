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ink.springer.com/article/10.1007/s42452-025-07999-8" TargetMode="External"/><Relationship Id="rId3" Type="http://schemas.openxmlformats.org/officeDocument/2006/relationships/hyperlink" Target="https://archive.ics.uci.edu/ml/datasets/wine%20qualit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05840"/>
            <a:ext cx="1069848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800" b="1">
                <a:solidFill>
                  <a:srgbClr val="1E1E1E"/>
                </a:solidFill>
                <a:latin typeface="Aptos"/>
              </a:defRPr>
            </a:pPr>
            <a:r>
              <a:t>Statistical Analysis and Machine Learning-Based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27632"/>
            <a:ext cx="1069848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3100" b="1">
                <a:solidFill>
                  <a:srgbClr val="374B5F"/>
                </a:solidFill>
                <a:latin typeface="Aptos"/>
              </a:defRPr>
            </a:pPr>
            <a:r>
              <a:t>Prediction of Wine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450592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400" b="0">
                <a:solidFill>
                  <a:srgbClr val="414141"/>
                </a:solidFill>
                <a:latin typeface="Aptos"/>
              </a:defRPr>
            </a:pPr>
            <a:r>
              <a:t>Physicochemical properties • statistics • hypothesis testing • sampling • machine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3657600"/>
            <a:ext cx="2423160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3758184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ORIGINAL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023360"/>
            <a:ext cx="214884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1,599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4572000"/>
            <a:ext cx="214884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observations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657600"/>
            <a:ext cx="2423160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758184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CLEAN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023360"/>
            <a:ext cx="214884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1,359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572000"/>
            <a:ext cx="214884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after 240 duplicates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3657600"/>
            <a:ext cx="2423160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3758184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PREDICTORS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4023360"/>
            <a:ext cx="214884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4572000"/>
            <a:ext cx="214884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physicochemical variables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77656" y="3657600"/>
            <a:ext cx="2423160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14816" y="3758184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BEST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6" y="4023360"/>
            <a:ext cx="214884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6" y="4572000"/>
            <a:ext cx="214884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RMSE 0.6440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96128"/>
            <a:ext cx="104241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050" b="0">
                <a:solidFill>
                  <a:srgbClr val="696969"/>
                </a:solidFill>
                <a:latin typeface="Aptos"/>
              </a:defRPr>
            </a:pPr>
            <a:r>
              <a:t>UCI Wine Quality — Red Wine 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850" b="0">
                <a:solidFill>
                  <a:srgbClr val="696969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548640"/>
          </a:xfrm>
          <a:prstGeom prst="rect">
            <a:avLst/>
          </a:prstGeom>
          <a:solidFill>
            <a:srgbClr val="374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7899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Aptos"/>
              </a:defRPr>
            </a:pPr>
            <a:r>
              <a:t>1. Dataset and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05256"/>
            <a:ext cx="106984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080" b="0">
                <a:solidFill>
                  <a:srgbClr val="696969"/>
                </a:solidFill>
                <a:latin typeface="Aptos"/>
              </a:defRPr>
            </a:pPr>
            <a:r>
              <a:t>What we started with and what we changed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26464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205740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1,599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205740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original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325880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1426464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1691640"/>
            <a:ext cx="205740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2103120"/>
            <a:ext cx="205740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11 features +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325880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426464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691640"/>
            <a:ext cx="205740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103120"/>
            <a:ext cx="205740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no imputation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325880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426464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691640"/>
            <a:ext cx="205740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240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103120"/>
            <a:ext cx="205740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exact duplicate 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670048"/>
            <a:ext cx="51663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650" b="1">
                <a:solidFill>
                  <a:srgbClr val="1E1E1E"/>
                </a:solidFill>
                <a:latin typeface="Aptos"/>
              </a:defRPr>
            </a:pPr>
            <a:r>
              <a:t>Dataset definition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017520"/>
            <a:ext cx="5166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414141"/>
                </a:solidFill>
                <a:latin typeface="Aptos"/>
              </a:defRPr>
            </a:pPr>
            <a:r>
              <a:t>• 11 physicochemical variables + quality score.</a:t>
            </a:r>
          </a:p>
          <a:p>
            <a:pPr>
              <a:spcAft>
                <a:spcPts val="600"/>
              </a:spcAft>
              <a:defRPr sz="1250">
                <a:solidFill>
                  <a:srgbClr val="414141"/>
                </a:solidFill>
                <a:latin typeface="Aptos"/>
              </a:defRPr>
            </a:pPr>
            <a:r>
              <a:t>• Quality is numerical, so the main ML task is regression.</a:t>
            </a:r>
          </a:p>
          <a:p>
            <a:pPr>
              <a:spcAft>
                <a:spcPts val="600"/>
              </a:spcAft>
              <a:defRPr sz="1250">
                <a:solidFill>
                  <a:srgbClr val="414141"/>
                </a:solidFill>
                <a:latin typeface="Aptos"/>
              </a:defRPr>
            </a:pPr>
            <a:r>
              <a:t>• Quality scores are concentrated around 5 and 6; scores 3 and 8 are rare.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70048"/>
            <a:ext cx="50749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650" b="1">
                <a:solidFill>
                  <a:srgbClr val="1E1E1E"/>
                </a:solidFill>
                <a:latin typeface="Aptos"/>
              </a:defRPr>
            </a:pPr>
            <a:r>
              <a:t>Cleaning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017520"/>
            <a:ext cx="5074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414141"/>
                </a:solidFill>
                <a:latin typeface="Aptos"/>
              </a:defRPr>
            </a:pPr>
            <a:r>
              <a:t>• No missing values → no imputation.</a:t>
            </a:r>
          </a:p>
          <a:p>
            <a:pPr>
              <a:spcAft>
                <a:spcPts val="600"/>
              </a:spcAft>
              <a:defRPr sz="1230">
                <a:solidFill>
                  <a:srgbClr val="414141"/>
                </a:solidFill>
                <a:latin typeface="Aptos"/>
              </a:defRPr>
            </a:pPr>
            <a:r>
              <a:t>• 240 exact duplicate rows removed to avoid repeated identical records receiving extra weight.</a:t>
            </a:r>
          </a:p>
          <a:p>
            <a:pPr>
              <a:spcAft>
                <a:spcPts val="600"/>
              </a:spcAft>
              <a:defRPr sz="1230">
                <a:solidFill>
                  <a:srgbClr val="414141"/>
                </a:solidFill>
                <a:latin typeface="Aptos"/>
              </a:defRPr>
            </a:pPr>
            <a:r>
              <a:t>• Final analytical dataset = 1,359 observations.</a:t>
            </a:r>
          </a:p>
          <a:p>
            <a:pPr>
              <a:spcAft>
                <a:spcPts val="600"/>
              </a:spcAft>
              <a:defRPr sz="1230">
                <a:solidFill>
                  <a:srgbClr val="414141"/>
                </a:solidFill>
                <a:latin typeface="Aptos"/>
              </a:defRPr>
            </a:pPr>
            <a:r>
              <a:t>• Duplicates were not automatically assumed to be errors.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87568"/>
            <a:ext cx="104241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980" b="0">
                <a:solidFill>
                  <a:srgbClr val="696969"/>
                </a:solidFill>
                <a:latin typeface="Aptos"/>
              </a:defRPr>
            </a:pPr>
            <a:r>
              <a:t>Primary source: UCI Machine Learning Repository — Wine Quality.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850" b="0">
                <a:solidFill>
                  <a:srgbClr val="696969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548640"/>
          </a:xfrm>
          <a:prstGeom prst="rect">
            <a:avLst/>
          </a:prstGeom>
          <a:solidFill>
            <a:srgbClr val="374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7899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Aptos"/>
              </a:defRPr>
            </a:pPr>
            <a:r>
              <a:t>2. Statistics and Hypothesis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05256"/>
            <a:ext cx="106984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080" b="0">
                <a:solidFill>
                  <a:srgbClr val="696969"/>
                </a:solidFill>
                <a:latin typeface="Aptos"/>
              </a:defRPr>
            </a:pPr>
            <a:r>
              <a:t>What we observed and what the tests changed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07592"/>
            <a:ext cx="2468880" cy="1078992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08176"/>
            <a:ext cx="21945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MEAN 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73352"/>
            <a:ext cx="21945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10.4323%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12264"/>
            <a:ext cx="219456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cleaned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307592"/>
            <a:ext cx="2468880" cy="1078992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408176"/>
            <a:ext cx="21945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95% 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1673352"/>
            <a:ext cx="21945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10.3747–10.4899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112264"/>
            <a:ext cx="219456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95%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1307592"/>
            <a:ext cx="2468880" cy="1078992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408176"/>
            <a:ext cx="21945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ONE-SAMPLE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1673352"/>
            <a:ext cx="21945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t = 14.7284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2112264"/>
            <a:ext cx="219456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p = 1.16×10⁻⁴⁵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3104" y="1307592"/>
            <a:ext cx="2468880" cy="1078992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0264" y="1408176"/>
            <a:ext cx="21945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CORRELATION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1673352"/>
            <a:ext cx="21945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r = 0.4803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0264" y="2112264"/>
            <a:ext cx="2194560" cy="1737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alcohol vs quality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85800" y="2651760"/>
          <a:ext cx="1033272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743200"/>
                <a:gridCol w="3017520"/>
                <a:gridCol w="2514600"/>
              </a:tblGrid>
              <a:tr h="441960"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H₀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Decision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One-sample t-test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μ = 10%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p = 1.16×10⁻⁴⁵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Reject H₀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Welch t-test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μlow = μhigh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p = 1.80×10⁻⁶⁹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Reject H₀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31520" y="4224528"/>
            <a:ext cx="50749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550" b="1">
                <a:solidFill>
                  <a:srgbClr val="1E1E1E"/>
                </a:solidFill>
                <a:latin typeface="Aptos"/>
              </a:defRPr>
            </a:pPr>
            <a:r>
              <a:t>Low vs high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53712"/>
            <a:ext cx="5074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80">
                <a:solidFill>
                  <a:srgbClr val="414141"/>
                </a:solidFill>
                <a:latin typeface="Aptos"/>
              </a:defRPr>
            </a:pPr>
            <a:r>
              <a:t>• Low (≤5): mean alcohol = 9.9208%</a:t>
            </a:r>
          </a:p>
          <a:p>
            <a:pPr>
              <a:spcAft>
                <a:spcPts val="500"/>
              </a:spcAft>
              <a:defRPr sz="1180">
                <a:solidFill>
                  <a:srgbClr val="414141"/>
                </a:solidFill>
                <a:latin typeface="Aptos"/>
              </a:defRPr>
            </a:pPr>
            <a:r>
              <a:t>• High (≥6): mean alcohol = 10.8876%</a:t>
            </a:r>
          </a:p>
          <a:p>
            <a:pPr>
              <a:spcAft>
                <a:spcPts val="500"/>
              </a:spcAft>
              <a:defRPr sz="1180">
                <a:solidFill>
                  <a:srgbClr val="414141"/>
                </a:solidFill>
                <a:latin typeface="Aptos"/>
              </a:defRPr>
            </a:pPr>
            <a:r>
              <a:t>• Difference = 0.9669 percentage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224528"/>
            <a:ext cx="49834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550" b="1">
                <a:solidFill>
                  <a:srgbClr val="1E1E1E"/>
                </a:solidFill>
                <a:latin typeface="Aptos"/>
              </a:defRPr>
            </a:pPr>
            <a:r>
              <a:t>What changed with sample size?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553712"/>
            <a:ext cx="4983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14141"/>
                </a:solidFill>
                <a:latin typeface="Aptos"/>
              </a:defRPr>
            </a:pPr>
            <a:r>
              <a:t>• The observed difference was large relative to its sampling uncertainty.</a:t>
            </a:r>
          </a:p>
          <a:p>
            <a:pPr>
              <a:spcAft>
                <a:spcPts val="500"/>
              </a:spcAft>
              <a:defRPr sz="1150">
                <a:solidFill>
                  <a:srgbClr val="414141"/>
                </a:solidFill>
                <a:latin typeface="Aptos"/>
              </a:defRPr>
            </a:pPr>
            <a:r>
              <a:t>• As n increases, standard error falls, so evidence against H₀ becomes stronger.</a:t>
            </a:r>
          </a:p>
          <a:p>
            <a:pPr>
              <a:spcAft>
                <a:spcPts val="500"/>
              </a:spcAft>
              <a:defRPr sz="1150">
                <a:solidFill>
                  <a:srgbClr val="414141"/>
                </a:solidFill>
                <a:latin typeface="Aptos"/>
              </a:defRPr>
            </a:pPr>
            <a:r>
              <a:t>• This is increased statistical power—not proof of causation.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850" b="0">
                <a:solidFill>
                  <a:srgbClr val="696969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548640"/>
          </a:xfrm>
          <a:prstGeom prst="rect">
            <a:avLst/>
          </a:prstGeom>
          <a:solidFill>
            <a:srgbClr val="374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7899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Aptos"/>
              </a:defRPr>
            </a:pPr>
            <a:r>
              <a:t>3. Sampling: Population Signal vs Random-Sample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05256"/>
            <a:ext cx="106984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080" b="0">
                <a:solidFill>
                  <a:srgbClr val="696969"/>
                </a:solidFill>
                <a:latin typeface="Aptos"/>
              </a:defRPr>
            </a:pPr>
            <a:r>
              <a:t>The key reasoning question from the supervisor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51663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620" b="1">
                <a:solidFill>
                  <a:srgbClr val="1E1E1E"/>
                </a:solidFill>
                <a:latin typeface="Aptos"/>
              </a:defRPr>
            </a:pPr>
            <a:r>
              <a:t>Repeated sampling from the cleaned dataset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64208"/>
          <a:ext cx="47548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508760"/>
                <a:gridCol w="1417320"/>
                <a:gridCol w="1234440"/>
              </a:tblGrid>
              <a:tr h="373380"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 of sample means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SD of sample means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Avg. CI width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50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10.4453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0.1626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0.6205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10.4221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0.1137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0.4177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250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10.4404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0.0691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0.2695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500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10.4201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0.0445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0.1893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1000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10.4325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0.0160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0.1340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72200" y="1298448"/>
            <a:ext cx="50749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620" b="1">
                <a:solidFill>
                  <a:srgbClr val="1E1E1E"/>
                </a:solidFill>
                <a:latin typeface="Aptos"/>
              </a:defRPr>
            </a:pPr>
            <a:r>
              <a:t>What can we conclude?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64208"/>
            <a:ext cx="50749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60">
                <a:solidFill>
                  <a:srgbClr val="414141"/>
                </a:solidFill>
                <a:latin typeface="Aptos"/>
              </a:defRPr>
            </a:pPr>
            <a:r>
              <a:t>• Sample means vary because random samples are different.</a:t>
            </a:r>
          </a:p>
          <a:p>
            <a:pPr>
              <a:spcAft>
                <a:spcPts val="500"/>
              </a:spcAft>
              <a:defRPr sz="1160">
                <a:solidFill>
                  <a:srgbClr val="414141"/>
                </a:solidFill>
                <a:latin typeface="Aptos"/>
              </a:defRPr>
            </a:pPr>
            <a:r>
              <a:t>• Variation shrinks strongly as n increases.</a:t>
            </a:r>
          </a:p>
          <a:p>
            <a:pPr>
              <a:spcAft>
                <a:spcPts val="500"/>
              </a:spcAft>
              <a:defRPr sz="1160">
                <a:solidFill>
                  <a:srgbClr val="414141"/>
                </a:solidFill>
                <a:latin typeface="Aptos"/>
              </a:defRPr>
            </a:pPr>
            <a:r>
              <a:t>• The sample means center near the cleaned-data mean of 10.4323%.</a:t>
            </a:r>
          </a:p>
          <a:p>
            <a:pPr>
              <a:spcAft>
                <a:spcPts val="500"/>
              </a:spcAft>
              <a:defRPr sz="1160">
                <a:solidFill>
                  <a:srgbClr val="414141"/>
                </a:solidFill>
                <a:latin typeface="Aptos"/>
              </a:defRPr>
            </a:pPr>
            <a:r>
              <a:t>• Therefore, sampling randomness explains differences among individual samples.</a:t>
            </a:r>
          </a:p>
          <a:p>
            <a:pPr>
              <a:spcAft>
                <a:spcPts val="500"/>
              </a:spcAft>
              <a:defRPr sz="1160">
                <a:solidFill>
                  <a:srgbClr val="414141"/>
                </a:solidFill>
                <a:latin typeface="Aptos"/>
              </a:defRPr>
            </a:pPr>
            <a:r>
              <a:t>• The dataset itself is above the null value 10%, and repeated samples reflect that shift.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515600" cy="1353312"/>
          </a:xfrm>
          <a:prstGeom prst="roundRect">
            <a:avLst/>
          </a:prstGeom>
          <a:solidFill>
            <a:srgbClr val="F7F7F7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101041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380" b="1">
                <a:solidFill>
                  <a:srgbClr val="1E1E1E"/>
                </a:solidFill>
                <a:latin typeface="Aptos"/>
              </a:defRPr>
            </a:pPr>
            <a:r>
              <a:t>Important limitation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64608"/>
            <a:ext cx="101041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130" b="0">
                <a:solidFill>
                  <a:srgbClr val="414141"/>
                </a:solidFill>
                <a:latin typeface="Aptos"/>
              </a:defRPr>
            </a:pPr>
            <a:r>
              <a:t>We cannot prove the real-world population mean from this dataset alone. The repeated experiment demonstrates sampling variability within our dataset. A population claim requires a defined target population and a representative/random external sample.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850" b="0">
                <a:solidFill>
                  <a:srgbClr val="696969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548640"/>
          </a:xfrm>
          <a:prstGeom prst="rect">
            <a:avLst/>
          </a:prstGeom>
          <a:solidFill>
            <a:srgbClr val="374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7899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Aptos"/>
              </a:defRPr>
            </a:pPr>
            <a:r>
              <a:t>4. Machine Learning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05256"/>
            <a:ext cx="106984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080" b="0">
                <a:solidFill>
                  <a:srgbClr val="696969"/>
                </a:solidFill>
                <a:latin typeface="Aptos"/>
              </a:defRPr>
            </a:pPr>
            <a:r>
              <a:t>Predicting quality with 5-fold cross-validation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53312"/>
          <a:ext cx="66294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05840"/>
                <a:gridCol w="1005840"/>
                <a:gridCol w="1005840"/>
                <a:gridCol w="1051560"/>
              </a:tblGrid>
              <a:tr h="47244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MAE ↓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MSE ↓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RMSE ↓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R² ↑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Linear Regression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0.5118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0.4417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0.6645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0.3465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0.4931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0.4150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0.6440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0.3853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26679" y="1371600"/>
            <a:ext cx="3474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550" b="1">
                <a:solidFill>
                  <a:srgbClr val="1E1E1E"/>
                </a:solidFill>
                <a:latin typeface="Aptos"/>
              </a:defRPr>
            </a:pPr>
            <a:r>
              <a:t>Best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700784"/>
            <a:ext cx="34747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100" b="1">
                <a:solidFill>
                  <a:srgbClr val="374B5F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48840"/>
            <a:ext cx="347472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420" b="1">
                <a:solidFill>
                  <a:srgbClr val="414141"/>
                </a:solidFill>
                <a:latin typeface="Aptos"/>
              </a:defRPr>
            </a:pPr>
            <a:r>
              <a:t>RMSE = 0.6440</a:t>
            </a:r>
            <a:br/>
            <a:r>
              <a:t>R² = 0.3853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1663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550" b="1">
                <a:solidFill>
                  <a:srgbClr val="1E1E1E"/>
                </a:solidFill>
                <a:latin typeface="Aptos"/>
              </a:defRPr>
            </a:pPr>
            <a:r>
              <a:t>Random Forest feature importance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3547872"/>
          <a:ext cx="5029200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645920"/>
              </a:tblGrid>
              <a:tr h="323088"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Feature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Importance</a:t>
                      </a:r>
                    </a:p>
                  </a:txBody>
                  <a:tcPr marL="54864" marR="54864" marT="36576" marB="36576">
                    <a:solidFill>
                      <a:srgbClr val="374B5F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Alcohol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0.2777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Sulphates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0.1392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Volatile acidity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0.1295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Total sulfur dioxide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0.0770</a:t>
                      </a:r>
                    </a:p>
                  </a:txBody>
                  <a:tcPr marL="54864" marR="54864" marT="36576" marB="36576">
                    <a:solidFill>
                      <a:srgbClr val="F8F8F8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Chlorides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414141"/>
                          </a:solidFill>
                          <a:latin typeface="Aptos"/>
                        </a:defRPr>
                      </a:pPr>
                      <a:r>
                        <a:t>0.0623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63640" y="3200400"/>
            <a:ext cx="48920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550" b="1">
                <a:solidFill>
                  <a:srgbClr val="1E1E1E"/>
                </a:solidFill>
                <a:latin typeface="Aptos"/>
              </a:defRPr>
            </a:pPr>
            <a:r>
              <a:t>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547872"/>
            <a:ext cx="480060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70">
                <a:solidFill>
                  <a:srgbClr val="414141"/>
                </a:solidFill>
                <a:latin typeface="Aptos"/>
              </a:defRPr>
            </a:pPr>
            <a:r>
              <a:t>• Random Forest outperformed Linear Regression on all four metrics.</a:t>
            </a:r>
          </a:p>
          <a:p>
            <a:pPr>
              <a:spcAft>
                <a:spcPts val="600"/>
              </a:spcAft>
              <a:defRPr sz="1170">
                <a:solidFill>
                  <a:srgbClr val="414141"/>
                </a:solidFill>
                <a:latin typeface="Aptos"/>
              </a:defRPr>
            </a:pPr>
            <a:r>
              <a:t>• It can capture nonlinear relationships and interactions.</a:t>
            </a:r>
          </a:p>
          <a:p>
            <a:pPr>
              <a:spcAft>
                <a:spcPts val="600"/>
              </a:spcAft>
              <a:defRPr sz="1170">
                <a:solidFill>
                  <a:srgbClr val="414141"/>
                </a:solidFill>
                <a:latin typeface="Aptos"/>
              </a:defRPr>
            </a:pPr>
            <a:r>
              <a:t>• Alcohol is the strongest model feature.</a:t>
            </a:r>
          </a:p>
          <a:p>
            <a:pPr>
              <a:spcAft>
                <a:spcPts val="600"/>
              </a:spcAft>
              <a:defRPr sz="1170">
                <a:solidFill>
                  <a:srgbClr val="414141"/>
                </a:solidFill>
                <a:latin typeface="Aptos"/>
              </a:defRPr>
            </a:pPr>
            <a:r>
              <a:t>• R² = 0.3853 is not 38.5% prediction accuracy.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850" b="0">
                <a:solidFill>
                  <a:srgbClr val="696969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548640"/>
          </a:xfrm>
          <a:prstGeom prst="rect">
            <a:avLst/>
          </a:prstGeom>
          <a:solidFill>
            <a:srgbClr val="374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1078992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600" b="1">
                <a:solidFill>
                  <a:srgbClr val="1E1E1E"/>
                </a:solidFill>
                <a:latin typeface="Aptos"/>
              </a:defRPr>
            </a:pPr>
            <a:r>
              <a:t>5. Conclusions, Limitations and Recent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05256"/>
            <a:ext cx="106984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080" b="0">
                <a:solidFill>
                  <a:srgbClr val="696969"/>
                </a:solidFill>
                <a:latin typeface="Aptos"/>
              </a:defRPr>
            </a:pPr>
            <a:r>
              <a:t>What the project ultimately tells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51663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550" b="1">
                <a:solidFill>
                  <a:srgbClr val="1E1E1E"/>
                </a:solidFill>
                <a:latin typeface="Aptos"/>
              </a:defRPr>
            </a:pPr>
            <a:r>
              <a:t>Main 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9344"/>
            <a:ext cx="5166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414141"/>
                </a:solidFill>
                <a:latin typeface="Aptos"/>
              </a:defRPr>
            </a:pPr>
            <a:r>
              <a:t>• Alcohol is positively associated with quality and is the most important Random Forest feature.</a:t>
            </a:r>
          </a:p>
          <a:p>
            <a:pPr>
              <a:spcAft>
                <a:spcPts val="500"/>
              </a:spcAft>
              <a:defRPr sz="1200">
                <a:solidFill>
                  <a:srgbClr val="414141"/>
                </a:solidFill>
                <a:latin typeface="Aptos"/>
              </a:defRPr>
            </a:pPr>
            <a:r>
              <a:t>• Both hypothesis tests reject H₀ at α = 0.05.</a:t>
            </a:r>
          </a:p>
          <a:p>
            <a:pPr>
              <a:spcAft>
                <a:spcPts val="500"/>
              </a:spcAft>
              <a:defRPr sz="1200">
                <a:solidFill>
                  <a:srgbClr val="414141"/>
                </a:solidFill>
                <a:latin typeface="Aptos"/>
              </a:defRPr>
            </a:pPr>
            <a:r>
              <a:t>• Larger samples give more stable means and narrower CIs.</a:t>
            </a:r>
          </a:p>
          <a:p>
            <a:pPr>
              <a:spcAft>
                <a:spcPts val="500"/>
              </a:spcAft>
              <a:defRPr sz="1200">
                <a:solidFill>
                  <a:srgbClr val="414141"/>
                </a:solidFill>
                <a:latin typeface="Aptos"/>
              </a:defRPr>
            </a:pPr>
            <a:r>
              <a:t>• Random Forest performs better than Linear Regression.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67328"/>
            <a:ext cx="51663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550" b="1">
                <a:solidFill>
                  <a:srgbClr val="1E1E1E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5166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414141"/>
                </a:solidFill>
                <a:latin typeface="Aptos"/>
              </a:defRPr>
            </a:pPr>
            <a:r>
              <a:t>• Observational data → no causal claim.</a:t>
            </a:r>
          </a:p>
          <a:p>
            <a:pPr>
              <a:spcAft>
                <a:spcPts val="500"/>
              </a:spcAft>
              <a:defRPr sz="1150">
                <a:solidFill>
                  <a:srgbClr val="414141"/>
                </a:solidFill>
                <a:latin typeface="Aptos"/>
              </a:defRPr>
            </a:pPr>
            <a:r>
              <a:t>• The UCI dataset is not automatically the entire real-world population.</a:t>
            </a:r>
          </a:p>
          <a:p>
            <a:pPr>
              <a:spcAft>
                <a:spcPts val="500"/>
              </a:spcAft>
              <a:defRPr sz="1150">
                <a:solidFill>
                  <a:srgbClr val="414141"/>
                </a:solidFill>
                <a:latin typeface="Aptos"/>
              </a:defRPr>
            </a:pPr>
            <a:r>
              <a:t>• R² = 0.3853 leaves substantial variation unexplained.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61872"/>
            <a:ext cx="5074920" cy="4297680"/>
          </a:xfrm>
          <a:prstGeom prst="roundRect">
            <a:avLst/>
          </a:prstGeom>
          <a:solidFill>
            <a:srgbClr val="F7F7F7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481328"/>
            <a:ext cx="4617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500" b="1">
                <a:solidFill>
                  <a:srgbClr val="1E1E1E"/>
                </a:solidFill>
                <a:latin typeface="Aptos"/>
              </a:defRPr>
            </a:pPr>
            <a:r>
              <a:t>Recent study —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47088"/>
            <a:ext cx="4617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>
                <a:solidFill>
                  <a:srgbClr val="414141"/>
                </a:solidFill>
                <a:latin typeface="Aptos"/>
              </a:rPr>
              <a:t>Khan et al. (2025/2026), </a:t>
            </a:r>
            <a:r>
              <a:rPr sz="1080">
                <a:solidFill>
                  <a:srgbClr val="374B5F"/>
                </a:solidFill>
                <a:latin typeface="Aptos"/>
                <a:hlinkClick r:id="rId2"/>
              </a:rPr>
              <a:t>“Improved machine learning framework with feature engineering and SHAP analysis for predicting wine quality”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926080"/>
            <a:ext cx="461772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040" b="0">
                <a:solidFill>
                  <a:srgbClr val="414141"/>
                </a:solidFill>
                <a:latin typeface="Aptos"/>
              </a:defRPr>
            </a:pPr>
            <a:r>
              <a:t>Discover Applied Sciences. Published online 29 December 2025. The study uses the UCI wine-quality data and identifies alcohol, sulfur dioxide and volatile acidity among influential predictors.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3840480"/>
            <a:ext cx="46177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280" b="1">
                <a:solidFill>
                  <a:srgbClr val="1E1E1E"/>
                </a:solidFill>
                <a:latin typeface="Aptos"/>
              </a:defRPr>
            </a:pPr>
            <a:r>
              <a:t>Why it matters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4160520"/>
            <a:ext cx="461772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030" b="0">
                <a:solidFill>
                  <a:srgbClr val="414141"/>
                </a:solidFill>
                <a:latin typeface="Aptos"/>
              </a:defRPr>
            </a:pPr>
            <a:r>
              <a:t>Our project reaches a compatible feature-level observation: alcohol is strongly related to quality and is the top Random Forest feature. The recent study provides external research context, not proof of our results.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4956048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96969"/>
                </a:solidFill>
                <a:latin typeface="Aptos"/>
              </a:rPr>
              <a:t>Primary dataset: UCI Wine Quality — </a:t>
            </a:r>
            <a:r>
              <a:rPr sz="950">
                <a:solidFill>
                  <a:srgbClr val="374B5F"/>
                </a:solidFill>
                <a:latin typeface="Aptos"/>
                <a:hlinkClick r:id="rId3"/>
              </a:rPr>
              <a:t>dataset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989320"/>
            <a:ext cx="50749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969" b="0">
                <a:solidFill>
                  <a:srgbClr val="696969"/>
                </a:solidFill>
                <a:latin typeface="Aptos"/>
              </a:defRPr>
            </a:pPr>
            <a:r>
              <a:t>Cortez et al. (2009) — original UCI wine-quality study.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850" b="0">
                <a:solidFill>
                  <a:srgbClr val="696969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